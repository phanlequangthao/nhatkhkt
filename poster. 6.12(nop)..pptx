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672" r:id="rId1"/>
  </p:sldMasterIdLst>
  <p:notesMasterIdLst>
    <p:notesMasterId r:id="rId3"/>
  </p:notesMasterIdLst>
  <p:sldIdLst>
    <p:sldId id="256" r:id="rId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766A8D1-3B11-44F4-8136-2405FDA310CD}">
          <p14:sldIdLst>
            <p14:sldId id="2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ECE0"/>
    <a:srgbClr val="9DEDDD"/>
    <a:srgbClr val="B3FFD5"/>
    <a:srgbClr val="EEC36E"/>
    <a:srgbClr val="00DE64"/>
    <a:srgbClr val="F6862A"/>
    <a:srgbClr val="A0ECE0"/>
    <a:srgbClr val="C3E3F5"/>
    <a:srgbClr val="A6D86E"/>
    <a:srgbClr val="ADDB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07" autoAdjust="0"/>
    <p:restoredTop sz="99712" autoAdjust="0"/>
  </p:normalViewPr>
  <p:slideViewPr>
    <p:cSldViewPr>
      <p:cViewPr>
        <p:scale>
          <a:sx n="150" d="100"/>
          <a:sy n="150" d="100"/>
        </p:scale>
        <p:origin x="420" y="-1458"/>
      </p:cViewPr>
      <p:guideLst>
        <p:guide orient="horz" pos="2160"/>
        <p:guide pos="2880"/>
      </p:guideLst>
    </p:cSldViewPr>
  </p:slideViewPr>
  <p:outlineViewPr>
    <p:cViewPr>
      <p:scale>
        <a:sx n="100" d="100"/>
        <a:sy n="100"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4" d="100"/>
          <a:sy n="74" d="100"/>
        </p:scale>
        <p:origin x="-32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BA7AD5-A8C3-4A19-A775-68EE8251AF3B}" type="datetimeFigureOut">
              <a:rPr lang="en-US" smtClean="0"/>
              <a:t>10/28/2024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8B35A2-117C-44D8-AB6E-94B1F46E6A33}" type="slidenum">
              <a:rPr lang="en-US" smtClean="0"/>
              <a:t>‹#›</a:t>
            </a:fld>
            <a:endParaRPr lang="en-US"/>
          </a:p>
        </p:txBody>
      </p:sp>
    </p:spTree>
    <p:extLst>
      <p:ext uri="{BB962C8B-B14F-4D97-AF65-F5344CB8AC3E}">
        <p14:creationId xmlns:p14="http://schemas.microsoft.com/office/powerpoint/2010/main" val="1219799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8B35A2-117C-44D8-AB6E-94B1F46E6A33}" type="slidenum">
              <a:rPr lang="en-US" smtClean="0"/>
              <a:t>1</a:t>
            </a:fld>
            <a:endParaRPr lang="en-US"/>
          </a:p>
        </p:txBody>
      </p:sp>
    </p:spTree>
    <p:extLst>
      <p:ext uri="{BB962C8B-B14F-4D97-AF65-F5344CB8AC3E}">
        <p14:creationId xmlns:p14="http://schemas.microsoft.com/office/powerpoint/2010/main" val="3706162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DDFBB24-8024-4DC7-A2FB-2C014FBCDBCD}"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1591792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DFBB24-8024-4DC7-A2FB-2C014FBCDBCD}"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109120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DFBB24-8024-4DC7-A2FB-2C014FBCDBCD}"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2207705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DFBB24-8024-4DC7-A2FB-2C014FBCDBCD}"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2621403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DFBB24-8024-4DC7-A2FB-2C014FBCDBCD}" type="datetimeFigureOut">
              <a:rPr lang="en-US" smtClean="0"/>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1124079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DFBB24-8024-4DC7-A2FB-2C014FBCDBCD}" type="datetimeFigureOut">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1550891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DFBB24-8024-4DC7-A2FB-2C014FBCDBCD}" type="datetimeFigureOut">
              <a:rPr lang="en-US" smtClean="0"/>
              <a:t>10/28/2024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4000312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DFBB24-8024-4DC7-A2FB-2C014FBCDBCD}"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918035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DFBB24-8024-4DC7-A2FB-2C014FBCDBCD}"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1622434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DFBB24-8024-4DC7-A2FB-2C014FBCDBCD}"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2369582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DFBB24-8024-4DC7-A2FB-2C014FBCDBCD}"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2605AC-673B-4315-AFAB-E9D2DB81A836}" type="slidenum">
              <a:rPr lang="en-US" smtClean="0"/>
              <a:t>‹#›</a:t>
            </a:fld>
            <a:endParaRPr lang="en-US"/>
          </a:p>
        </p:txBody>
      </p:sp>
    </p:spTree>
    <p:extLst>
      <p:ext uri="{BB962C8B-B14F-4D97-AF65-F5344CB8AC3E}">
        <p14:creationId xmlns:p14="http://schemas.microsoft.com/office/powerpoint/2010/main" val="2545435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DFBB24-8024-4DC7-A2FB-2C014FBCDBCD}" type="datetimeFigureOut">
              <a:rPr lang="en-US" smtClean="0"/>
              <a:t>10/28/2024</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2605AC-673B-4315-AFAB-E9D2DB81A836}" type="slidenum">
              <a:rPr lang="en-US" smtClean="0"/>
              <a:t>‹#›</a:t>
            </a:fld>
            <a:endParaRPr lang="en-US"/>
          </a:p>
        </p:txBody>
      </p:sp>
    </p:spTree>
    <p:extLst>
      <p:ext uri="{BB962C8B-B14F-4D97-AF65-F5344CB8AC3E}">
        <p14:creationId xmlns:p14="http://schemas.microsoft.com/office/powerpoint/2010/main" val="15491813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2312551" y="504609"/>
            <a:ext cx="4557600" cy="6076800"/>
          </a:xfrm>
          <a:prstGeom prst="rect">
            <a:avLst/>
          </a:prstGeom>
          <a:solidFill>
            <a:schemeClr val="accent6">
              <a:lumMod val="20000"/>
              <a:lumOff val="80000"/>
            </a:schemeClr>
          </a:solidFill>
          <a:ln w="3175">
            <a:solidFill>
              <a:schemeClr val="tx1">
                <a:lumMod val="50000"/>
                <a:lumOff val="50000"/>
              </a:schemeClr>
            </a:solidFill>
          </a:ln>
          <a:effectLst/>
        </p:spPr>
        <p:style>
          <a:lnRef idx="1">
            <a:schemeClr val="accent3"/>
          </a:lnRef>
          <a:fillRef idx="2">
            <a:schemeClr val="accent3"/>
          </a:fillRef>
          <a:effectRef idx="1">
            <a:schemeClr val="accent3"/>
          </a:effectRef>
          <a:fontRef idx="minor">
            <a:schemeClr val="dk1"/>
          </a:fontRef>
        </p:style>
        <p:txBody>
          <a:bodyPr rtlCol="0" anchor="ctr"/>
          <a:lstStyle/>
          <a:p>
            <a:endParaRPr lang="en-US" sz="800" dirty="0">
              <a:latin typeface="Arial" panose="020B0604020202020204" pitchFamily="34" charset="0"/>
              <a:cs typeface="Arial" panose="020B0604020202020204" pitchFamily="34" charset="0"/>
            </a:endParaRPr>
          </a:p>
        </p:txBody>
      </p:sp>
      <p:sp>
        <p:nvSpPr>
          <p:cNvPr id="16" name="Rectangle 15"/>
          <p:cNvSpPr/>
          <p:nvPr/>
        </p:nvSpPr>
        <p:spPr>
          <a:xfrm>
            <a:off x="6850255" y="2025984"/>
            <a:ext cx="2279651" cy="4557600"/>
          </a:xfrm>
          <a:prstGeom prst="rect">
            <a:avLst/>
          </a:prstGeom>
          <a:solidFill>
            <a:schemeClr val="accent6">
              <a:lumMod val="20000"/>
              <a:lumOff val="80000"/>
            </a:schemeClr>
          </a:solidFill>
          <a:ln w="3175">
            <a:solidFill>
              <a:schemeClr val="bg1"/>
            </a:solid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grpSp>
        <p:nvGrpSpPr>
          <p:cNvPr id="9" name="Group 8"/>
          <p:cNvGrpSpPr/>
          <p:nvPr/>
        </p:nvGrpSpPr>
        <p:grpSpPr>
          <a:xfrm>
            <a:off x="6914441" y="2131711"/>
            <a:ext cx="2175128" cy="3406757"/>
            <a:chOff x="6900728" y="4285861"/>
            <a:chExt cx="2206625" cy="2235242"/>
          </a:xfrm>
        </p:grpSpPr>
        <p:sp>
          <p:nvSpPr>
            <p:cNvPr id="156" name="Rounded Rectangle 155"/>
            <p:cNvSpPr/>
            <p:nvPr/>
          </p:nvSpPr>
          <p:spPr>
            <a:xfrm>
              <a:off x="6900728" y="4468934"/>
              <a:ext cx="2206625" cy="2052169"/>
            </a:xfrm>
            <a:prstGeom prst="roundRect">
              <a:avLst>
                <a:gd name="adj" fmla="val 12951"/>
              </a:avLst>
            </a:prstGeom>
            <a:noFill/>
            <a:ln w="19050">
              <a:solidFill>
                <a:srgbClr val="F6862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31" name="Group 30"/>
            <p:cNvGrpSpPr/>
            <p:nvPr/>
          </p:nvGrpSpPr>
          <p:grpSpPr>
            <a:xfrm>
              <a:off x="7202828" y="4285861"/>
              <a:ext cx="1734821" cy="220699"/>
              <a:chOff x="7251951" y="5783604"/>
              <a:chExt cx="1752600" cy="192901"/>
            </a:xfrm>
          </p:grpSpPr>
          <p:grpSp>
            <p:nvGrpSpPr>
              <p:cNvPr id="151" name="Group 150"/>
              <p:cNvGrpSpPr/>
              <p:nvPr/>
            </p:nvGrpSpPr>
            <p:grpSpPr>
              <a:xfrm>
                <a:off x="7251951" y="5783604"/>
                <a:ext cx="1752600" cy="169839"/>
                <a:chOff x="304801" y="2245009"/>
                <a:chExt cx="1464468" cy="181242"/>
              </a:xfrm>
            </p:grpSpPr>
            <p:sp>
              <p:nvSpPr>
                <p:cNvPr id="152" name="Freeform 151"/>
                <p:cNvSpPr/>
                <p:nvPr/>
              </p:nvSpPr>
              <p:spPr>
                <a:xfrm>
                  <a:off x="304801" y="2245580"/>
                  <a:ext cx="1464468" cy="180671"/>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rgbClr val="F6862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288" rtlCol="0" anchor="b"/>
                <a:lstStyle/>
                <a:p>
                  <a:pPr algn="ctr"/>
                  <a:r>
                    <a:rPr lang="en-US" sz="750" b="1" dirty="0">
                      <a:latin typeface="Arial" panose="020B0604020202020204" pitchFamily="34" charset="0"/>
                      <a:ea typeface="Verdana" pitchFamily="34" charset="0"/>
                      <a:cs typeface="Arial" panose="020B0604020202020204" pitchFamily="34" charset="0"/>
                    </a:rPr>
                    <a:t>ĐỘ HIỆU QUẢ DỰ ÁN </a:t>
                  </a:r>
                </a:p>
              </p:txBody>
            </p:sp>
            <p:sp>
              <p:nvSpPr>
                <p:cNvPr id="153" name="Freeform 152"/>
                <p:cNvSpPr/>
                <p:nvPr/>
              </p:nvSpPr>
              <p:spPr>
                <a:xfrm>
                  <a:off x="381143" y="2245009"/>
                  <a:ext cx="1349996" cy="99946"/>
                </a:xfrm>
                <a:custGeom>
                  <a:avLst/>
                  <a:gdLst>
                    <a:gd name="connsiteX0" fmla="*/ 64294 w 1154907"/>
                    <a:gd name="connsiteY0" fmla="*/ 259556 h 259556"/>
                    <a:gd name="connsiteX1" fmla="*/ 0 w 1154907"/>
                    <a:gd name="connsiteY1" fmla="*/ 135731 h 259556"/>
                    <a:gd name="connsiteX2" fmla="*/ 997744 w 1154907"/>
                    <a:gd name="connsiteY2" fmla="*/ 0 h 259556"/>
                    <a:gd name="connsiteX3" fmla="*/ 1154907 w 1154907"/>
                    <a:gd name="connsiteY3" fmla="*/ 107156 h 259556"/>
                    <a:gd name="connsiteX4" fmla="*/ 2382 w 1154907"/>
                    <a:gd name="connsiteY4" fmla="*/ 166687 h 259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7" h="259556">
                      <a:moveTo>
                        <a:pt x="64294" y="259556"/>
                      </a:moveTo>
                      <a:lnTo>
                        <a:pt x="0" y="135731"/>
                      </a:lnTo>
                      <a:lnTo>
                        <a:pt x="997744" y="0"/>
                      </a:lnTo>
                      <a:lnTo>
                        <a:pt x="1154907" y="107156"/>
                      </a:lnTo>
                      <a:lnTo>
                        <a:pt x="2382" y="166687"/>
                      </a:lnTo>
                    </a:path>
                  </a:pathLst>
                </a:custGeom>
                <a:solidFill>
                  <a:schemeClr val="tx1">
                    <a:lumMod val="65000"/>
                    <a:lumOff val="35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grpSp>
          <p:cxnSp>
            <p:nvCxnSpPr>
              <p:cNvPr id="157" name="Straight Connector 156"/>
              <p:cNvCxnSpPr/>
              <p:nvPr/>
            </p:nvCxnSpPr>
            <p:spPr>
              <a:xfrm flipV="1">
                <a:off x="7358674" y="5830433"/>
                <a:ext cx="155363" cy="146072"/>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grpSp>
      <p:grpSp>
        <p:nvGrpSpPr>
          <p:cNvPr id="10" name="Group 9"/>
          <p:cNvGrpSpPr/>
          <p:nvPr/>
        </p:nvGrpSpPr>
        <p:grpSpPr>
          <a:xfrm>
            <a:off x="6936926" y="5538468"/>
            <a:ext cx="2184400" cy="1058887"/>
            <a:chOff x="6936926" y="5800458"/>
            <a:chExt cx="2184400" cy="767912"/>
          </a:xfrm>
        </p:grpSpPr>
        <p:grpSp>
          <p:nvGrpSpPr>
            <p:cNvPr id="7" name="Group 6"/>
            <p:cNvGrpSpPr/>
            <p:nvPr/>
          </p:nvGrpSpPr>
          <p:grpSpPr>
            <a:xfrm>
              <a:off x="6936926" y="5800458"/>
              <a:ext cx="2184400" cy="767912"/>
              <a:chOff x="6936926" y="5800458"/>
              <a:chExt cx="2184400" cy="767912"/>
            </a:xfrm>
          </p:grpSpPr>
          <p:sp>
            <p:nvSpPr>
              <p:cNvPr id="148" name="Freeform 147"/>
              <p:cNvSpPr/>
              <p:nvPr/>
            </p:nvSpPr>
            <p:spPr>
              <a:xfrm>
                <a:off x="7147599" y="5800458"/>
                <a:ext cx="1776411" cy="156790"/>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288" rtlCol="0" anchor="b"/>
              <a:lstStyle/>
              <a:p>
                <a:pPr algn="ctr"/>
                <a:r>
                  <a:rPr lang="en-US" sz="750" b="1" dirty="0">
                    <a:latin typeface="Arial" panose="020B0604020202020204" pitchFamily="34" charset="0"/>
                    <a:ea typeface="Verdana" pitchFamily="34" charset="0"/>
                    <a:cs typeface="Arial" panose="020B0604020202020204" pitchFamily="34" charset="0"/>
                  </a:rPr>
                  <a:t>KẾT LUẬN</a:t>
                </a:r>
              </a:p>
            </p:txBody>
          </p:sp>
          <p:sp>
            <p:nvSpPr>
              <p:cNvPr id="159" name="Rounded Rectangle 158"/>
              <p:cNvSpPr/>
              <p:nvPr/>
            </p:nvSpPr>
            <p:spPr>
              <a:xfrm>
                <a:off x="6936926" y="5943600"/>
                <a:ext cx="2184400" cy="624770"/>
              </a:xfrm>
              <a:prstGeom prst="roundRect">
                <a:avLst>
                  <a:gd name="adj" fmla="val 10322"/>
                </a:avLst>
              </a:prstGeom>
              <a:noFill/>
              <a:ln w="19050">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cxnSp>
          <p:nvCxnSpPr>
            <p:cNvPr id="160" name="Straight Connector 159"/>
            <p:cNvCxnSpPr/>
            <p:nvPr/>
          </p:nvCxnSpPr>
          <p:spPr>
            <a:xfrm flipV="1">
              <a:off x="7281483" y="5823506"/>
              <a:ext cx="121115" cy="166703"/>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sp>
        <p:nvSpPr>
          <p:cNvPr id="24" name="TextBox 23"/>
          <p:cNvSpPr txBox="1"/>
          <p:nvPr/>
        </p:nvSpPr>
        <p:spPr>
          <a:xfrm>
            <a:off x="2718736" y="680163"/>
            <a:ext cx="3743582" cy="400110"/>
          </a:xfrm>
          <a:prstGeom prst="rect">
            <a:avLst/>
          </a:prstGeom>
          <a:noFill/>
        </p:spPr>
        <p:txBody>
          <a:bodyPr wrap="square" rtlCol="0">
            <a:spAutoFit/>
          </a:bodyPr>
          <a:lstStyle/>
          <a:p>
            <a:pPr algn="ctr"/>
            <a:r>
              <a:rPr lang="en-US" sz="1000" b="1" dirty="0">
                <a:solidFill>
                  <a:schemeClr val="tx2"/>
                </a:solidFill>
                <a:latin typeface="Arial" panose="020B0604020202020204" pitchFamily="34" charset="0"/>
                <a:ea typeface="Verdana" pitchFamily="34" charset="0"/>
                <a:cs typeface="Arial" panose="020B0604020202020204" pitchFamily="34" charset="0"/>
              </a:rPr>
              <a:t>HỘI THI KHOA HỌC KĨ THUẬT TỈNH DÀNH CHO HỌC SINH TRUNG HỌC NĂM 2023-2024</a:t>
            </a:r>
          </a:p>
        </p:txBody>
      </p:sp>
      <p:sp>
        <p:nvSpPr>
          <p:cNvPr id="27" name="TextBox 26"/>
          <p:cNvSpPr txBox="1"/>
          <p:nvPr/>
        </p:nvSpPr>
        <p:spPr>
          <a:xfrm>
            <a:off x="2480381" y="1197913"/>
            <a:ext cx="4343400" cy="430887"/>
          </a:xfrm>
          <a:prstGeom prst="rect">
            <a:avLst/>
          </a:prstGeom>
          <a:noFill/>
          <a:ln>
            <a:noFill/>
          </a:ln>
        </p:spPr>
        <p:txBody>
          <a:bodyPr wrap="square" lIns="0" tIns="0" rIns="0" bIns="0" rtlCol="0" anchor="ctr" anchorCtr="0">
            <a:spAutoFit/>
          </a:bodyPr>
          <a:lstStyle/>
          <a:p>
            <a:pPr algn="ctr"/>
            <a:r>
              <a:rPr lang="en-US" sz="1400" b="1" dirty="0">
                <a:effectLst/>
                <a:latin typeface="Arial" panose="020B0604020202020204" pitchFamily="34" charset="0"/>
                <a:ea typeface="Times New Roman" panose="02020603050405020304" pitchFamily="18" charset="0"/>
                <a:cs typeface="Arial" panose="020B0604020202020204" pitchFamily="34" charset="0"/>
              </a:rPr>
              <a:t>HỆ THỐNG</a:t>
            </a:r>
            <a:r>
              <a:rPr lang="vi-VN" sz="1400" b="1" dirty="0">
                <a:effectLst/>
                <a:latin typeface="Arial" panose="020B0604020202020204" pitchFamily="34" charset="0"/>
                <a:ea typeface="Times New Roman" panose="02020603050405020304" pitchFamily="18" charset="0"/>
                <a:cs typeface="Arial" panose="020B0604020202020204" pitchFamily="34" charset="0"/>
              </a:rPr>
              <a:t> NHẬN DIỆN </a:t>
            </a:r>
            <a:r>
              <a:rPr lang="en-US" sz="1400" b="1" dirty="0">
                <a:effectLst/>
                <a:latin typeface="Arial" panose="020B0604020202020204" pitchFamily="34" charset="0"/>
                <a:ea typeface="Times New Roman" panose="02020603050405020304" pitchFamily="18" charset="0"/>
                <a:cs typeface="Arial" panose="020B0604020202020204" pitchFamily="34" charset="0"/>
              </a:rPr>
              <a:t>NGÔN NGỮ KÝ HIỆU </a:t>
            </a:r>
            <a:r>
              <a:rPr lang="vi-VN" sz="1400" b="1" dirty="0">
                <a:effectLst/>
                <a:latin typeface="Arial" panose="020B0604020202020204" pitchFamily="34" charset="0"/>
                <a:ea typeface="Times New Roman" panose="02020603050405020304" pitchFamily="18" charset="0"/>
                <a:cs typeface="Arial" panose="020B0604020202020204" pitchFamily="34" charset="0"/>
              </a:rPr>
              <a:t>HỖ TRỢ NGƯỜI </a:t>
            </a:r>
            <a:r>
              <a:rPr lang="en-US" sz="1400" b="1" dirty="0">
                <a:effectLst/>
                <a:latin typeface="Arial" panose="020B0604020202020204" pitchFamily="34" charset="0"/>
                <a:ea typeface="Times New Roman" panose="02020603050405020304" pitchFamily="18" charset="0"/>
                <a:cs typeface="Arial" panose="020B0604020202020204" pitchFamily="34" charset="0"/>
              </a:rPr>
              <a:t>KHIẾM THÍNH – CÂM</a:t>
            </a:r>
            <a:endParaRPr lang="en-US" sz="1400" b="1" spc="50" dirty="0">
              <a:ln w="11430"/>
              <a:solidFill>
                <a:srgbClr val="FF0000"/>
              </a:solidFill>
              <a:latin typeface="Arial" panose="020B0604020202020204" pitchFamily="34" charset="0"/>
              <a:ea typeface="Verdana" pitchFamily="34" charset="0"/>
              <a:cs typeface="Arial" panose="020B0604020202020204" pitchFamily="34" charset="0"/>
            </a:endParaRPr>
          </a:p>
        </p:txBody>
      </p:sp>
      <p:cxnSp>
        <p:nvCxnSpPr>
          <p:cNvPr id="19" name="Straight Connector 18"/>
          <p:cNvCxnSpPr/>
          <p:nvPr/>
        </p:nvCxnSpPr>
        <p:spPr>
          <a:xfrm>
            <a:off x="2306093" y="1746440"/>
            <a:ext cx="4587800" cy="0"/>
          </a:xfrm>
          <a:prstGeom prst="line">
            <a:avLst/>
          </a:prstGeom>
          <a:ln w="28575">
            <a:solidFill>
              <a:schemeClr val="bg1"/>
            </a:solidFill>
          </a:ln>
          <a:effectLst/>
        </p:spPr>
        <p:style>
          <a:lnRef idx="1">
            <a:schemeClr val="accent3"/>
          </a:lnRef>
          <a:fillRef idx="2">
            <a:schemeClr val="accent3"/>
          </a:fillRef>
          <a:effectRef idx="1">
            <a:schemeClr val="accent3"/>
          </a:effectRef>
          <a:fontRef idx="minor">
            <a:schemeClr val="dk1"/>
          </a:fontRef>
        </p:style>
      </p:cxnSp>
      <p:grpSp>
        <p:nvGrpSpPr>
          <p:cNvPr id="412" name="Group 411"/>
          <p:cNvGrpSpPr/>
          <p:nvPr/>
        </p:nvGrpSpPr>
        <p:grpSpPr>
          <a:xfrm>
            <a:off x="3556316" y="1804041"/>
            <a:ext cx="2363591" cy="303504"/>
            <a:chOff x="304800" y="2161576"/>
            <a:chExt cx="1464468" cy="264680"/>
          </a:xfrm>
        </p:grpSpPr>
        <p:sp>
          <p:nvSpPr>
            <p:cNvPr id="413" name="Freeform 412"/>
            <p:cNvSpPr/>
            <p:nvPr/>
          </p:nvSpPr>
          <p:spPr>
            <a:xfrm>
              <a:off x="304800" y="2178844"/>
              <a:ext cx="1464468" cy="247412"/>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r>
                <a:rPr lang="en-US" sz="800" b="1" dirty="0">
                  <a:solidFill>
                    <a:schemeClr val="bg1"/>
                  </a:solidFill>
                  <a:latin typeface="Arial" panose="020B0604020202020204" pitchFamily="34" charset="0"/>
                  <a:ea typeface="Verdana" pitchFamily="34" charset="0"/>
                  <a:cs typeface="Arial" panose="020B0604020202020204" pitchFamily="34" charset="0"/>
                </a:rPr>
                <a:t>QUÁ TRÌNH NGHIÊN CỨU </a:t>
              </a:r>
            </a:p>
          </p:txBody>
        </p:sp>
        <p:sp>
          <p:nvSpPr>
            <p:cNvPr id="414" name="Freeform 413"/>
            <p:cNvSpPr/>
            <p:nvPr/>
          </p:nvSpPr>
          <p:spPr>
            <a:xfrm>
              <a:off x="322721" y="2161572"/>
              <a:ext cx="1359759" cy="183357"/>
            </a:xfrm>
            <a:custGeom>
              <a:avLst/>
              <a:gdLst>
                <a:gd name="connsiteX0" fmla="*/ 64294 w 1154907"/>
                <a:gd name="connsiteY0" fmla="*/ 259556 h 259556"/>
                <a:gd name="connsiteX1" fmla="*/ 0 w 1154907"/>
                <a:gd name="connsiteY1" fmla="*/ 135731 h 259556"/>
                <a:gd name="connsiteX2" fmla="*/ 997744 w 1154907"/>
                <a:gd name="connsiteY2" fmla="*/ 0 h 259556"/>
                <a:gd name="connsiteX3" fmla="*/ 1154907 w 1154907"/>
                <a:gd name="connsiteY3" fmla="*/ 107156 h 259556"/>
                <a:gd name="connsiteX4" fmla="*/ 2382 w 1154907"/>
                <a:gd name="connsiteY4" fmla="*/ 166687 h 259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7" h="259556">
                  <a:moveTo>
                    <a:pt x="64294" y="259556"/>
                  </a:moveTo>
                  <a:lnTo>
                    <a:pt x="0" y="135731"/>
                  </a:lnTo>
                  <a:lnTo>
                    <a:pt x="997744" y="0"/>
                  </a:lnTo>
                  <a:lnTo>
                    <a:pt x="1154907" y="107156"/>
                  </a:lnTo>
                  <a:lnTo>
                    <a:pt x="2382" y="166687"/>
                  </a:lnTo>
                </a:path>
              </a:pathLst>
            </a:custGeom>
            <a:solidFill>
              <a:srgbClr val="EEC36E"/>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a:latin typeface="Arial" panose="020B0604020202020204" pitchFamily="34" charset="0"/>
                <a:cs typeface="Arial" panose="020B0604020202020204" pitchFamily="34" charset="0"/>
              </a:endParaRPr>
            </a:p>
          </p:txBody>
        </p:sp>
      </p:grpSp>
      <p:sp>
        <p:nvSpPr>
          <p:cNvPr id="29" name="Rectangle 28"/>
          <p:cNvSpPr/>
          <p:nvPr/>
        </p:nvSpPr>
        <p:spPr>
          <a:xfrm>
            <a:off x="2412962" y="2098803"/>
            <a:ext cx="4247270" cy="11082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endParaRPr>
          </a:p>
        </p:txBody>
      </p:sp>
      <p:cxnSp>
        <p:nvCxnSpPr>
          <p:cNvPr id="84" name="Straight Connector 83"/>
          <p:cNvCxnSpPr/>
          <p:nvPr/>
        </p:nvCxnSpPr>
        <p:spPr>
          <a:xfrm flipV="1">
            <a:off x="3745496" y="1860022"/>
            <a:ext cx="200605" cy="284939"/>
          </a:xfrm>
          <a:prstGeom prst="line">
            <a:avLst/>
          </a:prstGeom>
          <a:ln w="38100">
            <a:solidFill>
              <a:srgbClr val="B3FFD5"/>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4094" y="2014288"/>
            <a:ext cx="2279651" cy="4557600"/>
          </a:xfrm>
          <a:prstGeom prst="rect">
            <a:avLst/>
          </a:prstGeom>
          <a:solidFill>
            <a:schemeClr val="accent6">
              <a:lumMod val="20000"/>
              <a:lumOff val="80000"/>
            </a:schemeClr>
          </a:solidFill>
          <a:ln w="3175">
            <a:solidFill>
              <a:schemeClr val="bg1"/>
            </a:solid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82" name="Rounded Rectangle 81"/>
          <p:cNvSpPr/>
          <p:nvPr/>
        </p:nvSpPr>
        <p:spPr>
          <a:xfrm>
            <a:off x="54431" y="2395163"/>
            <a:ext cx="2152925" cy="2136954"/>
          </a:xfrm>
          <a:prstGeom prst="roundRect">
            <a:avLst>
              <a:gd name="adj" fmla="val 10345"/>
            </a:avLst>
          </a:prstGeom>
          <a:noFill/>
          <a:ln w="19050">
            <a:solidFill>
              <a:srgbClr val="0070C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58" name="Group 57"/>
          <p:cNvGrpSpPr/>
          <p:nvPr/>
        </p:nvGrpSpPr>
        <p:grpSpPr>
          <a:xfrm>
            <a:off x="192717" y="2116215"/>
            <a:ext cx="1798749" cy="294852"/>
            <a:chOff x="307926" y="2153389"/>
            <a:chExt cx="1464468" cy="323190"/>
          </a:xfrm>
        </p:grpSpPr>
        <p:sp>
          <p:nvSpPr>
            <p:cNvPr id="35" name="Freeform 34"/>
            <p:cNvSpPr/>
            <p:nvPr/>
          </p:nvSpPr>
          <p:spPr>
            <a:xfrm>
              <a:off x="307926" y="2158129"/>
              <a:ext cx="1464468" cy="247412"/>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45720" bIns="0" rtlCol="0" anchor="ctr"/>
            <a:lstStyle/>
            <a:p>
              <a:pPr algn="ctr"/>
              <a:r>
                <a:rPr lang="en-US" sz="800" b="1" dirty="0">
                  <a:solidFill>
                    <a:schemeClr val="bg1"/>
                  </a:solidFill>
                  <a:latin typeface="Arial" panose="020B0604020202020204" pitchFamily="34" charset="0"/>
                  <a:ea typeface="Verdana" pitchFamily="34" charset="0"/>
                  <a:cs typeface="Arial" panose="020B0604020202020204" pitchFamily="34" charset="0"/>
                </a:rPr>
                <a:t>LÝ DO CHỌN ĐỀ TÀI</a:t>
              </a:r>
            </a:p>
          </p:txBody>
        </p:sp>
        <p:sp>
          <p:nvSpPr>
            <p:cNvPr id="37" name="Freeform 36"/>
            <p:cNvSpPr/>
            <p:nvPr/>
          </p:nvSpPr>
          <p:spPr>
            <a:xfrm>
              <a:off x="355680" y="2153389"/>
              <a:ext cx="1359759" cy="183357"/>
            </a:xfrm>
            <a:custGeom>
              <a:avLst/>
              <a:gdLst>
                <a:gd name="connsiteX0" fmla="*/ 64294 w 1154907"/>
                <a:gd name="connsiteY0" fmla="*/ 259556 h 259556"/>
                <a:gd name="connsiteX1" fmla="*/ 0 w 1154907"/>
                <a:gd name="connsiteY1" fmla="*/ 135731 h 259556"/>
                <a:gd name="connsiteX2" fmla="*/ 997744 w 1154907"/>
                <a:gd name="connsiteY2" fmla="*/ 0 h 259556"/>
                <a:gd name="connsiteX3" fmla="*/ 1154907 w 1154907"/>
                <a:gd name="connsiteY3" fmla="*/ 107156 h 259556"/>
                <a:gd name="connsiteX4" fmla="*/ 2382 w 1154907"/>
                <a:gd name="connsiteY4" fmla="*/ 166687 h 259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7" h="259556">
                  <a:moveTo>
                    <a:pt x="64294" y="259556"/>
                  </a:moveTo>
                  <a:lnTo>
                    <a:pt x="0" y="135731"/>
                  </a:lnTo>
                  <a:lnTo>
                    <a:pt x="997744" y="0"/>
                  </a:lnTo>
                  <a:lnTo>
                    <a:pt x="1154907" y="107156"/>
                  </a:lnTo>
                  <a:lnTo>
                    <a:pt x="2382" y="166687"/>
                  </a:lnTo>
                </a:path>
              </a:pathLst>
            </a:custGeom>
            <a:solidFill>
              <a:srgbClr val="EEC36E"/>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43" name="Straight Connector 42"/>
            <p:cNvCxnSpPr/>
            <p:nvPr/>
          </p:nvCxnSpPr>
          <p:spPr>
            <a:xfrm flipV="1">
              <a:off x="400005" y="2224403"/>
              <a:ext cx="120576" cy="252176"/>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5496" y="4570110"/>
            <a:ext cx="2220799" cy="1955235"/>
            <a:chOff x="49144" y="5320724"/>
            <a:chExt cx="2220799" cy="1245094"/>
          </a:xfrm>
        </p:grpSpPr>
        <p:sp>
          <p:nvSpPr>
            <p:cNvPr id="139" name="Rounded Rectangle 138"/>
            <p:cNvSpPr/>
            <p:nvPr/>
          </p:nvSpPr>
          <p:spPr>
            <a:xfrm>
              <a:off x="49144" y="5504924"/>
              <a:ext cx="2220799" cy="1060894"/>
            </a:xfrm>
            <a:prstGeom prst="roundRect">
              <a:avLst>
                <a:gd name="adj" fmla="val 9464"/>
              </a:avLst>
            </a:prstGeom>
            <a:noFill/>
            <a:ln w="19050">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100" name="Group 99"/>
            <p:cNvGrpSpPr/>
            <p:nvPr/>
          </p:nvGrpSpPr>
          <p:grpSpPr>
            <a:xfrm>
              <a:off x="280309" y="5320724"/>
              <a:ext cx="1752600" cy="243703"/>
              <a:chOff x="309010" y="2195791"/>
              <a:chExt cx="1464468" cy="273182"/>
            </a:xfrm>
          </p:grpSpPr>
          <p:sp>
            <p:nvSpPr>
              <p:cNvPr id="102" name="Freeform 101"/>
              <p:cNvSpPr/>
              <p:nvPr/>
            </p:nvSpPr>
            <p:spPr>
              <a:xfrm>
                <a:off x="309010" y="2211053"/>
                <a:ext cx="1464468" cy="204108"/>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288" rtlCol="0" anchor="b"/>
              <a:lstStyle/>
              <a:p>
                <a:pPr algn="ctr"/>
                <a:r>
                  <a:rPr lang="en-US" sz="720" b="1" dirty="0">
                    <a:solidFill>
                      <a:schemeClr val="bg1"/>
                    </a:solidFill>
                    <a:latin typeface="Arial" panose="020B0604020202020204" pitchFamily="34" charset="0"/>
                    <a:ea typeface="Verdana" pitchFamily="34" charset="0"/>
                    <a:cs typeface="Arial" panose="020B0604020202020204" pitchFamily="34" charset="0"/>
                  </a:rPr>
                  <a:t>MỤC TIÊU NGHIÊN CỨU </a:t>
                </a:r>
              </a:p>
            </p:txBody>
          </p:sp>
          <p:sp>
            <p:nvSpPr>
              <p:cNvPr id="103" name="Freeform 102"/>
              <p:cNvSpPr/>
              <p:nvPr/>
            </p:nvSpPr>
            <p:spPr>
              <a:xfrm>
                <a:off x="390435" y="2195791"/>
                <a:ext cx="1349996" cy="183355"/>
              </a:xfrm>
              <a:custGeom>
                <a:avLst/>
                <a:gdLst>
                  <a:gd name="connsiteX0" fmla="*/ 64294 w 1154907"/>
                  <a:gd name="connsiteY0" fmla="*/ 259556 h 259556"/>
                  <a:gd name="connsiteX1" fmla="*/ 0 w 1154907"/>
                  <a:gd name="connsiteY1" fmla="*/ 135731 h 259556"/>
                  <a:gd name="connsiteX2" fmla="*/ 997744 w 1154907"/>
                  <a:gd name="connsiteY2" fmla="*/ 0 h 259556"/>
                  <a:gd name="connsiteX3" fmla="*/ 1154907 w 1154907"/>
                  <a:gd name="connsiteY3" fmla="*/ 107156 h 259556"/>
                  <a:gd name="connsiteX4" fmla="*/ 2382 w 1154907"/>
                  <a:gd name="connsiteY4" fmla="*/ 166687 h 259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7" h="259556">
                    <a:moveTo>
                      <a:pt x="64294" y="259556"/>
                    </a:moveTo>
                    <a:lnTo>
                      <a:pt x="0" y="135731"/>
                    </a:lnTo>
                    <a:lnTo>
                      <a:pt x="997744" y="0"/>
                    </a:lnTo>
                    <a:lnTo>
                      <a:pt x="1154907" y="107156"/>
                    </a:lnTo>
                    <a:lnTo>
                      <a:pt x="2382" y="166687"/>
                    </a:lnTo>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104" name="Straight Connector 103"/>
              <p:cNvCxnSpPr/>
              <p:nvPr/>
            </p:nvCxnSpPr>
            <p:spPr>
              <a:xfrm flipV="1">
                <a:off x="383863" y="2211053"/>
                <a:ext cx="132588" cy="257920"/>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grpSp>
      <p:sp>
        <p:nvSpPr>
          <p:cNvPr id="110" name="Rectangle 109"/>
          <p:cNvSpPr/>
          <p:nvPr/>
        </p:nvSpPr>
        <p:spPr>
          <a:xfrm>
            <a:off x="87738" y="2517796"/>
            <a:ext cx="2093162" cy="877163"/>
          </a:xfrm>
          <a:prstGeom prst="rect">
            <a:avLst/>
          </a:prstGeom>
        </p:spPr>
        <p:txBody>
          <a:bodyPr wrap="square" lIns="91440" rIns="91440" bIns="91440" anchor="ctr">
            <a:spAutoFit/>
          </a:bodyPr>
          <a:lstStyle/>
          <a:p>
            <a:pPr algn="just"/>
            <a:r>
              <a:rPr lang="vi-VN" sz="800" dirty="0">
                <a:effectLst>
                  <a:outerShdw sx="1000" sy="1000" algn="ctr" rotWithShape="0">
                    <a:srgbClr val="000000"/>
                  </a:outerShdw>
                </a:effectLst>
                <a:latin typeface="Arial" panose="020B0604020202020204" pitchFamily="34" charset="0"/>
                <a:cs typeface="Arial" panose="020B0604020202020204" pitchFamily="34" charset="0"/>
              </a:rPr>
              <a:t>Dự án này hướng tới việc phá bỏ rào cản giao tiếp cho người khiếm thính - câm, giúp họ hòa nhập tốt hơn và sống tự tin </a:t>
            </a:r>
            <a:r>
              <a:rPr lang="vi-VN" sz="800" dirty="0">
                <a:effectLst>
                  <a:outerShdw sx="1000" sy="1000" kx="1300200" algn="ctr" rotWithShape="0">
                    <a:srgbClr val="000000"/>
                  </a:outerShdw>
                </a:effectLst>
                <a:latin typeface="Arial" panose="020B0604020202020204" pitchFamily="34" charset="0"/>
                <a:cs typeface="Arial" panose="020B0604020202020204" pitchFamily="34" charset="0"/>
              </a:rPr>
              <a:t>hơn</a:t>
            </a:r>
            <a:r>
              <a:rPr lang="vi-VN" sz="800" dirty="0">
                <a:effectLst>
                  <a:outerShdw sx="1000" sy="1000" algn="ctr" rotWithShape="0">
                    <a:srgbClr val="000000"/>
                  </a:outerShdw>
                </a:effectLst>
                <a:latin typeface="Arial" panose="020B0604020202020204" pitchFamily="34" charset="0"/>
                <a:cs typeface="Arial" panose="020B0604020202020204" pitchFamily="34" charset="0"/>
              </a:rPr>
              <a:t> trong xã hội. Từ đó, nâng cao chất lượng cuộc sống và thúc đẩy một cộng đồng hòa nhập, đa dạng.</a:t>
            </a:r>
            <a:endParaRPr lang="en-US" sz="750" dirty="0">
              <a:effectLst>
                <a:outerShdw sx="1000" sy="1000" algn="ctr" rotWithShape="0">
                  <a:srgbClr val="000000"/>
                </a:outerShdw>
              </a:effectLst>
              <a:latin typeface="Arial" panose="020B0604020202020204" pitchFamily="34" charset="0"/>
              <a:cs typeface="Arial" panose="020B0604020202020204" pitchFamily="34" charset="0"/>
            </a:endParaRPr>
          </a:p>
        </p:txBody>
      </p:sp>
      <p:sp>
        <p:nvSpPr>
          <p:cNvPr id="56" name="Right Arrow 55"/>
          <p:cNvSpPr/>
          <p:nvPr/>
        </p:nvSpPr>
        <p:spPr>
          <a:xfrm rot="10800000">
            <a:off x="3653149" y="2811627"/>
            <a:ext cx="273120" cy="1049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71" name="Content Placeholder 2"/>
          <p:cNvSpPr txBox="1">
            <a:spLocks/>
          </p:cNvSpPr>
          <p:nvPr/>
        </p:nvSpPr>
        <p:spPr>
          <a:xfrm>
            <a:off x="4618303" y="6364198"/>
            <a:ext cx="2144770" cy="8913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600" dirty="0" err="1">
                <a:solidFill>
                  <a:schemeClr val="tx1"/>
                </a:solidFill>
                <a:latin typeface="Arial" panose="020B0604020202020204" pitchFamily="34" charset="0"/>
                <a:cs typeface="Arial" panose="020B0604020202020204" pitchFamily="34" charset="0"/>
              </a:rPr>
              <a:t>Hình</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ảnh</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minh</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họa</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cho</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chức</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năng</a:t>
            </a:r>
            <a:endParaRPr lang="en-US" sz="600" dirty="0">
              <a:solidFill>
                <a:schemeClr val="tx1"/>
              </a:solidFill>
              <a:latin typeface="Arial" panose="020B0604020202020204" pitchFamily="34" charset="0"/>
              <a:cs typeface="Arial" panose="020B0604020202020204" pitchFamily="34" charset="0"/>
            </a:endParaRPr>
          </a:p>
        </p:txBody>
      </p:sp>
      <p:grpSp>
        <p:nvGrpSpPr>
          <p:cNvPr id="12" name="Group 11"/>
          <p:cNvGrpSpPr/>
          <p:nvPr/>
        </p:nvGrpSpPr>
        <p:grpSpPr>
          <a:xfrm>
            <a:off x="2389892" y="3212976"/>
            <a:ext cx="4315741" cy="1553005"/>
            <a:chOff x="2389892" y="3108385"/>
            <a:chExt cx="4315741" cy="1553005"/>
          </a:xfrm>
        </p:grpSpPr>
        <p:grpSp>
          <p:nvGrpSpPr>
            <p:cNvPr id="5" name="Group 4"/>
            <p:cNvGrpSpPr/>
            <p:nvPr/>
          </p:nvGrpSpPr>
          <p:grpSpPr>
            <a:xfrm>
              <a:off x="2389892" y="3140968"/>
              <a:ext cx="4315741" cy="1520422"/>
              <a:chOff x="2383049" y="3747973"/>
              <a:chExt cx="4433888" cy="3595929"/>
            </a:xfrm>
          </p:grpSpPr>
          <p:sp>
            <p:nvSpPr>
              <p:cNvPr id="531" name="Rounded Rectangle 530"/>
              <p:cNvSpPr/>
              <p:nvPr/>
            </p:nvSpPr>
            <p:spPr>
              <a:xfrm>
                <a:off x="2383049" y="4213987"/>
                <a:ext cx="4433888" cy="3129915"/>
              </a:xfrm>
              <a:prstGeom prst="roundRect">
                <a:avLst>
                  <a:gd name="adj" fmla="val 2850"/>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endParaRPr>
              </a:p>
            </p:txBody>
          </p:sp>
          <p:cxnSp>
            <p:nvCxnSpPr>
              <p:cNvPr id="550" name="Straight Connector 549"/>
              <p:cNvCxnSpPr/>
              <p:nvPr/>
            </p:nvCxnSpPr>
            <p:spPr>
              <a:xfrm flipV="1">
                <a:off x="3683849" y="4288135"/>
                <a:ext cx="200605" cy="284939"/>
              </a:xfrm>
              <a:prstGeom prst="line">
                <a:avLst/>
              </a:prstGeom>
              <a:ln w="38100">
                <a:solidFill>
                  <a:srgbClr val="B3FFD5"/>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3647214" y="3747973"/>
                <a:ext cx="207780" cy="257090"/>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a:xfrm>
              <a:off x="3068257" y="3108385"/>
              <a:ext cx="3312368" cy="282569"/>
              <a:chOff x="304800" y="2166853"/>
              <a:chExt cx="1464468" cy="309726"/>
            </a:xfrm>
          </p:grpSpPr>
          <p:sp>
            <p:nvSpPr>
              <p:cNvPr id="79" name="Freeform 78"/>
              <p:cNvSpPr/>
              <p:nvPr/>
            </p:nvSpPr>
            <p:spPr>
              <a:xfrm>
                <a:off x="304800" y="2178844"/>
                <a:ext cx="1464468" cy="247412"/>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r>
                  <a:rPr lang="en-US" sz="800" b="1" dirty="0">
                    <a:latin typeface="Arial" panose="020B0604020202020204" pitchFamily="34" charset="0"/>
                    <a:ea typeface="Verdana" pitchFamily="34" charset="0"/>
                    <a:cs typeface="Arial" panose="020B0604020202020204" pitchFamily="34" charset="0"/>
                  </a:rPr>
                  <a:t>CHỨC NĂNG CHÍNH TRONG DỰ ÁN</a:t>
                </a:r>
              </a:p>
            </p:txBody>
          </p:sp>
          <p:sp>
            <p:nvSpPr>
              <p:cNvPr id="80" name="Freeform 79"/>
              <p:cNvSpPr/>
              <p:nvPr/>
            </p:nvSpPr>
            <p:spPr>
              <a:xfrm>
                <a:off x="342337" y="2166853"/>
                <a:ext cx="1359759" cy="183357"/>
              </a:xfrm>
              <a:custGeom>
                <a:avLst/>
                <a:gdLst>
                  <a:gd name="connsiteX0" fmla="*/ 64294 w 1154907"/>
                  <a:gd name="connsiteY0" fmla="*/ 259556 h 259556"/>
                  <a:gd name="connsiteX1" fmla="*/ 0 w 1154907"/>
                  <a:gd name="connsiteY1" fmla="*/ 135731 h 259556"/>
                  <a:gd name="connsiteX2" fmla="*/ 997744 w 1154907"/>
                  <a:gd name="connsiteY2" fmla="*/ 0 h 259556"/>
                  <a:gd name="connsiteX3" fmla="*/ 1154907 w 1154907"/>
                  <a:gd name="connsiteY3" fmla="*/ 107156 h 259556"/>
                  <a:gd name="connsiteX4" fmla="*/ 2382 w 1154907"/>
                  <a:gd name="connsiteY4" fmla="*/ 166687 h 259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7" h="259556">
                    <a:moveTo>
                      <a:pt x="64294" y="259556"/>
                    </a:moveTo>
                    <a:lnTo>
                      <a:pt x="0" y="135731"/>
                    </a:lnTo>
                    <a:lnTo>
                      <a:pt x="997744" y="0"/>
                    </a:lnTo>
                    <a:lnTo>
                      <a:pt x="1154907" y="107156"/>
                    </a:lnTo>
                    <a:lnTo>
                      <a:pt x="2382" y="166687"/>
                    </a:lnTo>
                  </a:path>
                </a:pathLst>
              </a:custGeom>
              <a:solidFill>
                <a:srgbClr val="EEC36E"/>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81" name="Straight Connector 80"/>
              <p:cNvCxnSpPr/>
              <p:nvPr/>
            </p:nvCxnSpPr>
            <p:spPr>
              <a:xfrm flipV="1">
                <a:off x="400005" y="2224403"/>
                <a:ext cx="120576" cy="252176"/>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grpSp>
      <p:sp>
        <p:nvSpPr>
          <p:cNvPr id="90" name="Rounded Rectangle 89"/>
          <p:cNvSpPr/>
          <p:nvPr/>
        </p:nvSpPr>
        <p:spPr>
          <a:xfrm>
            <a:off x="2361580" y="5044200"/>
            <a:ext cx="4344054" cy="1491206"/>
          </a:xfrm>
          <a:prstGeom prst="roundRect">
            <a:avLst>
              <a:gd name="adj" fmla="val 2850"/>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anose="020B0604020202020204" pitchFamily="34" charset="0"/>
              <a:cs typeface="Arial" panose="020B0604020202020204" pitchFamily="34" charset="0"/>
            </a:endParaRPr>
          </a:p>
        </p:txBody>
      </p:sp>
      <p:grpSp>
        <p:nvGrpSpPr>
          <p:cNvPr id="96" name="Group 95"/>
          <p:cNvGrpSpPr/>
          <p:nvPr/>
        </p:nvGrpSpPr>
        <p:grpSpPr>
          <a:xfrm>
            <a:off x="2755698" y="4739185"/>
            <a:ext cx="3725928" cy="295136"/>
            <a:chOff x="302388" y="2032783"/>
            <a:chExt cx="1464468" cy="453325"/>
          </a:xfrm>
        </p:grpSpPr>
        <p:sp>
          <p:nvSpPr>
            <p:cNvPr id="97" name="Freeform 96"/>
            <p:cNvSpPr/>
            <p:nvPr/>
          </p:nvSpPr>
          <p:spPr>
            <a:xfrm>
              <a:off x="302388" y="2032783"/>
              <a:ext cx="1464468" cy="453325"/>
            </a:xfrm>
            <a:custGeom>
              <a:avLst/>
              <a:gdLst>
                <a:gd name="connsiteX0" fmla="*/ 126206 w 1464468"/>
                <a:gd name="connsiteY0" fmla="*/ 307181 h 311944"/>
                <a:gd name="connsiteX1" fmla="*/ 0 w 1464468"/>
                <a:gd name="connsiteY1" fmla="*/ 130969 h 311944"/>
                <a:gd name="connsiteX2" fmla="*/ 1226343 w 1464468"/>
                <a:gd name="connsiteY2" fmla="*/ 0 h 311944"/>
                <a:gd name="connsiteX3" fmla="*/ 1464468 w 1464468"/>
                <a:gd name="connsiteY3" fmla="*/ 116681 h 311944"/>
                <a:gd name="connsiteX4" fmla="*/ 1223962 w 1464468"/>
                <a:gd name="connsiteY4" fmla="*/ 311944 h 311944"/>
                <a:gd name="connsiteX5" fmla="*/ 126206 w 1464468"/>
                <a:gd name="connsiteY5" fmla="*/ 307181 h 31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468" h="311944">
                  <a:moveTo>
                    <a:pt x="126206" y="307181"/>
                  </a:moveTo>
                  <a:lnTo>
                    <a:pt x="0" y="130969"/>
                  </a:lnTo>
                  <a:lnTo>
                    <a:pt x="1226343" y="0"/>
                  </a:lnTo>
                  <a:lnTo>
                    <a:pt x="1464468" y="116681"/>
                  </a:lnTo>
                  <a:lnTo>
                    <a:pt x="1223962" y="311944"/>
                  </a:lnTo>
                  <a:lnTo>
                    <a:pt x="126206" y="307181"/>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Ins="0" bIns="0" rtlCol="0" anchor="ctr"/>
            <a:lstStyle/>
            <a:p>
              <a:pPr algn="ctr"/>
              <a:r>
                <a:rPr lang="en-US" sz="800" b="1" dirty="0">
                  <a:latin typeface="Arial" panose="020B0604020202020204" pitchFamily="34" charset="0"/>
                  <a:ea typeface="Verdana" pitchFamily="34" charset="0"/>
                  <a:cs typeface="Arial" panose="020B0604020202020204" pitchFamily="34" charset="0"/>
                </a:rPr>
                <a:t>SẢN PHẨM DỰ ÁN</a:t>
              </a:r>
            </a:p>
          </p:txBody>
        </p:sp>
        <p:cxnSp>
          <p:nvCxnSpPr>
            <p:cNvPr id="99" name="Straight Connector 98"/>
            <p:cNvCxnSpPr>
              <a:cxnSpLocks/>
              <a:stCxn id="97" idx="0"/>
            </p:cNvCxnSpPr>
            <p:nvPr/>
          </p:nvCxnSpPr>
          <p:spPr>
            <a:xfrm flipV="1">
              <a:off x="428594" y="2078343"/>
              <a:ext cx="89575" cy="400844"/>
            </a:xfrm>
            <a:prstGeom prst="line">
              <a:avLst/>
            </a:prstGeom>
            <a:ln w="28575">
              <a:solidFill>
                <a:srgbClr val="B3FFD5"/>
              </a:solidFill>
            </a:ln>
          </p:spPr>
          <p:style>
            <a:lnRef idx="1">
              <a:schemeClr val="accent1"/>
            </a:lnRef>
            <a:fillRef idx="0">
              <a:schemeClr val="accent1"/>
            </a:fillRef>
            <a:effectRef idx="0">
              <a:schemeClr val="accent1"/>
            </a:effectRef>
            <a:fontRef idx="minor">
              <a:schemeClr val="tx1"/>
            </a:fontRef>
          </p:style>
        </p:cxnSp>
      </p:grpSp>
      <p:sp>
        <p:nvSpPr>
          <p:cNvPr id="30" name="Rectangle 29"/>
          <p:cNvSpPr/>
          <p:nvPr/>
        </p:nvSpPr>
        <p:spPr>
          <a:xfrm>
            <a:off x="105641" y="4878959"/>
            <a:ext cx="2252653" cy="744243"/>
          </a:xfrm>
          <a:prstGeom prst="rect">
            <a:avLst/>
          </a:prstGeom>
        </p:spPr>
        <p:txBody>
          <a:bodyPr wrap="square">
            <a:spAutoFit/>
          </a:bodyPr>
          <a:lstStyle/>
          <a:p>
            <a:pPr marL="0" marR="0">
              <a:lnSpc>
                <a:spcPct val="107000"/>
              </a:lnSpc>
              <a:spcBef>
                <a:spcPts val="0"/>
              </a:spcBef>
              <a:spcAft>
                <a:spcPts val="800"/>
              </a:spcAft>
            </a:pPr>
            <a:r>
              <a:rPr lang="vi-VN" sz="800" dirty="0">
                <a:latin typeface="Arial" panose="020B0604020202020204" pitchFamily="34" charset="0"/>
                <a:cs typeface="Arial" panose="020B0604020202020204" pitchFamily="34" charset="0"/>
              </a:rPr>
              <a:t>Xây dựng một hệ thống nhận diện ngôn ngữ ký hiệu có độ chính xác cao, không chỉ giúp người khiếm thính giao tiếp hiệu quả mà còn mở ra nhiều cơ hội hòa nhập hơn cho họ trong các hoạt động xã hội.</a:t>
            </a:r>
            <a:endParaRPr lang="fr-FR" sz="750" dirty="0">
              <a:effectLst/>
              <a:latin typeface="Arial" panose="020B0604020202020204" pitchFamily="34" charset="0"/>
              <a:ea typeface="Calibri" panose="020F0502020204030204" pitchFamily="34" charset="0"/>
              <a:cs typeface="Arial" panose="020B0604020202020204" pitchFamily="34" charset="0"/>
            </a:endParaRPr>
          </a:p>
        </p:txBody>
      </p:sp>
      <p:sp>
        <p:nvSpPr>
          <p:cNvPr id="21" name="Rectangle 8"/>
          <p:cNvSpPr>
            <a:spLocks noChangeArrowheads="1"/>
          </p:cNvSpPr>
          <p:nvPr/>
        </p:nvSpPr>
        <p:spPr bwMode="auto">
          <a:xfrm>
            <a:off x="0" y="474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Arial" panose="020B0604020202020204" pitchFamily="34" charset="0"/>
              <a:cs typeface="Arial" panose="020B0604020202020204" pitchFamily="34" charset="0"/>
            </a:endParaRPr>
          </a:p>
        </p:txBody>
      </p:sp>
      <p:sp>
        <p:nvSpPr>
          <p:cNvPr id="95" name="Rectangle 8"/>
          <p:cNvSpPr>
            <a:spLocks noChangeArrowheads="1"/>
          </p:cNvSpPr>
          <p:nvPr/>
        </p:nvSpPr>
        <p:spPr bwMode="auto">
          <a:xfrm>
            <a:off x="6955616" y="4693367"/>
            <a:ext cx="2150398" cy="84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228600" algn="l"/>
              </a:tabLst>
            </a:pPr>
            <a:r>
              <a:rPr lang="en-US" sz="700" dirty="0" err="1">
                <a:latin typeface="Arial" panose="020B0604020202020204" pitchFamily="34" charset="0"/>
                <a:cs typeface="Arial" panose="020B0604020202020204" pitchFamily="34" charset="0"/>
              </a:rPr>
              <a:t>Các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thông</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số</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của</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mô</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hình</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sau</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khi</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huấn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luyện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dùng</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để</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đánh</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giá</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độ</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hiệu</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quả</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của</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dự</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án</a:t>
            </a:r>
            <a:endParaRPr lang="en-US" sz="700" dirty="0">
              <a:latin typeface="Arial" panose="020B0604020202020204" pitchFamily="34" charset="0"/>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tab pos="228600" algn="l"/>
              </a:tabLst>
            </a:pPr>
            <a:r>
              <a:rPr lang="vi-VN" sz="700" b="1" dirty="0">
                <a:latin typeface="Arial" panose="020B0604020202020204" pitchFamily="34" charset="0"/>
                <a:cs typeface="Arial" panose="020B0604020202020204" pitchFamily="34" charset="0"/>
              </a:rPr>
              <a:t>Loss (Hàm mất mát):</a:t>
            </a:r>
            <a:r>
              <a:rPr lang="vi-VN" sz="700" dirty="0">
                <a:latin typeface="Arial" panose="020B0604020202020204" pitchFamily="34" charset="0"/>
                <a:cs typeface="Arial" panose="020B0604020202020204" pitchFamily="34" charset="0"/>
              </a:rPr>
              <a:t> Đại diện cho sai số giữa kết quả dự đoán của mô hình và kết quả thực tế. Giá trị Loss càng thấp thì mô hình càng tốt.</a:t>
            </a:r>
            <a:endParaRPr lang="en-US" sz="700" dirty="0">
              <a:latin typeface="Arial" panose="020B0604020202020204" pitchFamily="34" charset="0"/>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tab pos="228600" algn="l"/>
              </a:tabLst>
            </a:pPr>
            <a:r>
              <a:rPr lang="vi-VN" sz="700" b="1" dirty="0">
                <a:latin typeface="Arial" panose="020B0604020202020204" pitchFamily="34" charset="0"/>
                <a:cs typeface="Arial" panose="020B0604020202020204" pitchFamily="34" charset="0"/>
              </a:rPr>
              <a:t>Accuracy (Độ chính xác):</a:t>
            </a:r>
            <a:r>
              <a:rPr lang="vi-VN" sz="700" dirty="0">
                <a:latin typeface="Arial" panose="020B0604020202020204" pitchFamily="34" charset="0"/>
                <a:cs typeface="Arial" panose="020B0604020202020204" pitchFamily="34" charset="0"/>
              </a:rPr>
              <a:t> Tỷ lệ phần trăm các dự đoán đúng của mô hình trên tổng số dự đoán.</a:t>
            </a:r>
            <a:endParaRPr lang="en-US" sz="700" dirty="0">
              <a:latin typeface="Arial" panose="020B0604020202020204" pitchFamily="34" charset="0"/>
              <a:cs typeface="Arial" panose="020B0604020202020204" pitchFamily="34" charset="0"/>
            </a:endParaRPr>
          </a:p>
        </p:txBody>
      </p:sp>
      <p:sp>
        <p:nvSpPr>
          <p:cNvPr id="101" name="Rectangle 100"/>
          <p:cNvSpPr/>
          <p:nvPr/>
        </p:nvSpPr>
        <p:spPr>
          <a:xfrm>
            <a:off x="6940263" y="5757363"/>
            <a:ext cx="2229158" cy="830997"/>
          </a:xfrm>
          <a:prstGeom prst="rect">
            <a:avLst/>
          </a:prstGeom>
        </p:spPr>
        <p:txBody>
          <a:bodyPr wrap="square">
            <a:spAutoFit/>
          </a:bodyPr>
          <a:lstStyle/>
          <a:p>
            <a:pPr algn="just"/>
            <a:r>
              <a:rPr lang="vi-VN" sz="800" dirty="0">
                <a:latin typeface="Arial" panose="020B0604020202020204" pitchFamily="34" charset="0"/>
                <a:cs typeface="Arial" panose="020B0604020202020204" pitchFamily="34" charset="0"/>
              </a:rPr>
              <a:t>Dự án này là một cuộc cách mạng về giao tiếp, giúp người khiếm thính-câm tham gia vào cộng đồng một cách chủ động và tự tin. Đây cũng là nỗ lực đáng kể trong việc tạo ra một xã hội hòa nhập, nơi mọi người đều có cơ hội và tiếng nói.</a:t>
            </a:r>
            <a:endParaRPr lang="en-US" sz="700" dirty="0">
              <a:latin typeface="Arial" panose="020B0604020202020204" pitchFamily="34" charset="0"/>
              <a:cs typeface="Arial" panose="020B0604020202020204" pitchFamily="34" charset="0"/>
            </a:endParaRPr>
          </a:p>
        </p:txBody>
      </p:sp>
      <p:cxnSp>
        <p:nvCxnSpPr>
          <p:cNvPr id="1122" name="Straight Connector 1121"/>
          <p:cNvCxnSpPr/>
          <p:nvPr/>
        </p:nvCxnSpPr>
        <p:spPr>
          <a:xfrm>
            <a:off x="4536597" y="3515072"/>
            <a:ext cx="0" cy="1171382"/>
          </a:xfrm>
          <a:prstGeom prst="line">
            <a:avLst/>
          </a:prstGeom>
        </p:spPr>
        <p:style>
          <a:lnRef idx="1">
            <a:schemeClr val="accent1"/>
          </a:lnRef>
          <a:fillRef idx="0">
            <a:schemeClr val="accent1"/>
          </a:fillRef>
          <a:effectRef idx="0">
            <a:schemeClr val="accent1"/>
          </a:effectRef>
          <a:fontRef idx="minor">
            <a:schemeClr val="tx1"/>
          </a:fontRef>
        </p:style>
      </p:cxnSp>
      <p:sp>
        <p:nvSpPr>
          <p:cNvPr id="1130" name="Rectangle 1129"/>
          <p:cNvSpPr/>
          <p:nvPr/>
        </p:nvSpPr>
        <p:spPr>
          <a:xfrm>
            <a:off x="4601503" y="5061740"/>
            <a:ext cx="1996286" cy="307777"/>
          </a:xfrm>
          <a:prstGeom prst="rect">
            <a:avLst/>
          </a:prstGeom>
        </p:spPr>
        <p:txBody>
          <a:bodyPr wrap="square">
            <a:spAutoFit/>
          </a:bodyPr>
          <a:lstStyle/>
          <a:p>
            <a:pPr algn="just"/>
            <a:r>
              <a:rPr lang="en-US" sz="700" dirty="0">
                <a:latin typeface="Arial" panose="020B0604020202020204" pitchFamily="34" charset="0"/>
                <a:cs typeface="Arial" panose="020B0604020202020204" pitchFamily="34" charset="0"/>
              </a:rPr>
              <a:t>Video </a:t>
            </a:r>
            <a:r>
              <a:rPr lang="en-US" sz="700" dirty="0" err="1">
                <a:latin typeface="Arial" panose="020B0604020202020204" pitchFamily="34" charset="0"/>
                <a:cs typeface="Arial" panose="020B0604020202020204" pitchFamily="34" charset="0"/>
              </a:rPr>
              <a:t>được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tạo</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ra</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từ</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chức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năng</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chuyển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đổi</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ngôn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ngữ</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thường</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thành</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ngôn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ngữ</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ký</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hiệu</a:t>
            </a:r>
            <a:endParaRPr lang="en-US" sz="800" dirty="0">
              <a:latin typeface="Arial" panose="020B0604020202020204" pitchFamily="34" charset="0"/>
              <a:cs typeface="Arial" panose="020B0604020202020204" pitchFamily="34" charset="0"/>
            </a:endParaRPr>
          </a:p>
        </p:txBody>
      </p:sp>
      <p:sp>
        <p:nvSpPr>
          <p:cNvPr id="108" name="Rectangle 107"/>
          <p:cNvSpPr/>
          <p:nvPr/>
        </p:nvSpPr>
        <p:spPr>
          <a:xfrm>
            <a:off x="4507672" y="3489463"/>
            <a:ext cx="2209259" cy="523220"/>
          </a:xfrm>
          <a:prstGeom prst="rect">
            <a:avLst/>
          </a:prstGeom>
        </p:spPr>
        <p:txBody>
          <a:bodyPr wrap="square">
            <a:spAutoFit/>
          </a:bodyPr>
          <a:lstStyle/>
          <a:p>
            <a:r>
              <a:rPr lang="en-US" sz="700" dirty="0">
                <a:latin typeface="Arial" panose="020B0604020202020204" pitchFamily="34" charset="0"/>
                <a:cs typeface="Arial" panose="020B0604020202020204" pitchFamily="34" charset="0"/>
              </a:rPr>
              <a:t>WEBSITE</a:t>
            </a:r>
          </a:p>
          <a:p>
            <a:r>
              <a:rPr lang="en-US" sz="700" dirty="0" err="1">
                <a:latin typeface="Arial" panose="020B0604020202020204" pitchFamily="34" charset="0"/>
                <a:cs typeface="Arial" panose="020B0604020202020204" pitchFamily="34" charset="0"/>
              </a:rPr>
              <a:t>Kết</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nối</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người</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dùng</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thông</a:t>
            </a:r>
            <a:r>
              <a:rPr lang="en-US" sz="700" dirty="0">
                <a:latin typeface="Arial" panose="020B0604020202020204" pitchFamily="34" charset="0"/>
                <a:cs typeface="Arial" panose="020B0604020202020204" pitchFamily="34" charset="0"/>
              </a:rPr>
              <a:t> qua </a:t>
            </a:r>
            <a:r>
              <a:rPr lang="en-US" sz="700" dirty="0" err="1">
                <a:latin typeface="Arial" panose="020B0604020202020204" pitchFamily="34" charset="0"/>
                <a:cs typeface="Arial" panose="020B0604020202020204" pitchFamily="34" charset="0"/>
              </a:rPr>
              <a:t>websocket</a:t>
            </a:r>
            <a:r>
              <a:rPr lang="en-US" sz="700" dirty="0">
                <a:latin typeface="Arial" panose="020B0604020202020204" pitchFamily="34" charset="0"/>
                <a:cs typeface="Arial" panose="020B0604020202020204" pitchFamily="34" charset="0"/>
              </a:rPr>
              <a:t> – P2P</a:t>
            </a:r>
          </a:p>
          <a:p>
            <a:r>
              <a:rPr lang="en-US" sz="700" dirty="0" err="1">
                <a:latin typeface="Arial" panose="020B0604020202020204" pitchFamily="34" charset="0"/>
                <a:cs typeface="Arial" panose="020B0604020202020204" pitchFamily="34" charset="0"/>
              </a:rPr>
              <a:t>Gửi</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dữ</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liệu</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và</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nhận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kết</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quả</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thông</a:t>
            </a:r>
            <a:r>
              <a:rPr lang="en-US" sz="700" dirty="0">
                <a:latin typeface="Arial" panose="020B0604020202020204" pitchFamily="34" charset="0"/>
                <a:cs typeface="Arial" panose="020B0604020202020204" pitchFamily="34" charset="0"/>
              </a:rPr>
              <a:t> qua API</a:t>
            </a:r>
          </a:p>
          <a:p>
            <a:r>
              <a:rPr lang="en-US" sz="700" dirty="0" err="1">
                <a:latin typeface="Arial" panose="020B0604020202020204" pitchFamily="34" charset="0"/>
                <a:cs typeface="Arial" panose="020B0604020202020204" pitchFamily="34" charset="0"/>
              </a:rPr>
              <a:t>Khu</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vực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trò</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chuyện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hiển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thị</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kết</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quả</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nhận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diện</a:t>
            </a:r>
            <a:r>
              <a:rPr lang="en-US" sz="700" dirty="0">
                <a:latin typeface="Arial" panose="020B0604020202020204" pitchFamily="34" charset="0"/>
                <a:cs typeface="Arial" panose="020B0604020202020204" pitchFamily="34" charset="0"/>
              </a:rPr>
              <a:t>.</a:t>
            </a:r>
          </a:p>
        </p:txBody>
      </p:sp>
      <p:cxnSp>
        <p:nvCxnSpPr>
          <p:cNvPr id="1135" name="Straight Connector 1134"/>
          <p:cNvCxnSpPr>
            <a:cxnSpLocks/>
          </p:cNvCxnSpPr>
          <p:nvPr/>
        </p:nvCxnSpPr>
        <p:spPr>
          <a:xfrm>
            <a:off x="4569212" y="5084948"/>
            <a:ext cx="8999" cy="1421562"/>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718936F-18C4-4413-B6BC-678CFD447C28}"/>
              </a:ext>
            </a:extLst>
          </p:cNvPr>
          <p:cNvSpPr txBox="1"/>
          <p:nvPr/>
        </p:nvSpPr>
        <p:spPr>
          <a:xfrm>
            <a:off x="2453262" y="3494598"/>
            <a:ext cx="1996339" cy="1361911"/>
          </a:xfrm>
          <a:prstGeom prst="rect">
            <a:avLst/>
          </a:prstGeom>
          <a:noFill/>
        </p:spPr>
        <p:txBody>
          <a:bodyPr wrap="square" rtlCol="0">
            <a:spAutoFit/>
          </a:bodyPr>
          <a:lstStyle/>
          <a:p>
            <a:r>
              <a:rPr lang="en-US" sz="750" dirty="0">
                <a:latin typeface="Arial" panose="020B0604020202020204" pitchFamily="34" charset="0"/>
                <a:cs typeface="Arial" panose="020B0604020202020204" pitchFamily="34" charset="0"/>
              </a:rPr>
              <a:t>PHẦN MỀM</a:t>
            </a:r>
          </a:p>
          <a:p>
            <a:r>
              <a:rPr lang="en-US" sz="750" dirty="0" err="1">
                <a:latin typeface="Arial" panose="020B0604020202020204" pitchFamily="34" charset="0"/>
                <a:cs typeface="Arial" panose="020B0604020202020204" pitchFamily="34" charset="0"/>
              </a:rPr>
              <a:t>Xây</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dựng</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tập</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dữ</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liệu</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gồm</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hình</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ảnh</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và</a:t>
            </a:r>
            <a:r>
              <a:rPr lang="en-US" sz="750" dirty="0">
                <a:latin typeface="Arial" panose="020B0604020202020204" pitchFamily="34" charset="0"/>
                <a:cs typeface="Arial" panose="020B0604020202020204" pitchFamily="34" charset="0"/>
              </a:rPr>
              <a:t> video </a:t>
            </a:r>
            <a:r>
              <a:rPr lang="en-US" sz="750" dirty="0" err="1">
                <a:latin typeface="Arial" panose="020B0604020202020204" pitchFamily="34" charset="0"/>
                <a:cs typeface="Arial" panose="020B0604020202020204" pitchFamily="34" charset="0"/>
              </a:rPr>
              <a:t>liên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quan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tới</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ngôn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ngữ</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ký</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hiệu</a:t>
            </a:r>
            <a:endParaRPr lang="en-US" sz="750" dirty="0">
              <a:latin typeface="Arial" panose="020B0604020202020204" pitchFamily="34" charset="0"/>
              <a:cs typeface="Arial" panose="020B0604020202020204" pitchFamily="34" charset="0"/>
            </a:endParaRPr>
          </a:p>
          <a:p>
            <a:r>
              <a:rPr lang="en-US" sz="750" dirty="0" err="1">
                <a:latin typeface="Arial" panose="020B0604020202020204" pitchFamily="34" charset="0"/>
                <a:cs typeface="Arial" panose="020B0604020202020204" pitchFamily="34" charset="0"/>
              </a:rPr>
              <a:t>Huấn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luyện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mô</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hình</a:t>
            </a:r>
            <a:r>
              <a:rPr lang="en-US" sz="750" dirty="0">
                <a:latin typeface="Arial" panose="020B0604020202020204" pitchFamily="34" charset="0"/>
                <a:cs typeface="Arial" panose="020B0604020202020204" pitchFamily="34" charset="0"/>
              </a:rPr>
              <a:t> </a:t>
            </a:r>
            <a:r>
              <a:rPr lang="fr-FR" sz="750" dirty="0">
                <a:latin typeface="Arial" panose="020B0604020202020204" pitchFamily="34" charset="0"/>
                <a:cs typeface="Arial" panose="020B0604020202020204" pitchFamily="34" charset="0"/>
              </a:rPr>
              <a:t>Long Short – </a:t>
            </a:r>
            <a:r>
              <a:rPr lang="fr-FR" sz="750" dirty="0" err="1">
                <a:latin typeface="Arial" panose="020B0604020202020204" pitchFamily="34" charset="0"/>
                <a:cs typeface="Arial" panose="020B0604020202020204" pitchFamily="34" charset="0"/>
              </a:rPr>
              <a:t>Term</a:t>
            </a:r>
            <a:r>
              <a:rPr lang="fr-FR" sz="750" dirty="0">
                <a:latin typeface="Arial" panose="020B0604020202020204" pitchFamily="34" charset="0"/>
                <a:cs typeface="Arial" panose="020B0604020202020204" pitchFamily="34" charset="0"/>
              </a:rPr>
              <a:t> Memory (LSTM)</a:t>
            </a:r>
          </a:p>
          <a:p>
            <a:r>
              <a:rPr lang="en-US" sz="750" dirty="0" err="1">
                <a:latin typeface="Arial" panose="020B0604020202020204" pitchFamily="34" charset="0"/>
                <a:cs typeface="Arial" panose="020B0604020202020204" pitchFamily="34" charset="0"/>
              </a:rPr>
              <a:t>Nhận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diện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được</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ngôn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ngữ</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ký</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hiệu</a:t>
            </a:r>
            <a:r>
              <a:rPr lang="en-US" sz="750" dirty="0">
                <a:latin typeface="Arial" panose="020B0604020202020204" pitchFamily="34" charset="0"/>
                <a:cs typeface="Arial" panose="020B0604020202020204" pitchFamily="34" charset="0"/>
              </a:rPr>
              <a:t> 1 </a:t>
            </a:r>
            <a:r>
              <a:rPr lang="en-US" sz="750" dirty="0" err="1">
                <a:latin typeface="Arial" panose="020B0604020202020204" pitchFamily="34" charset="0"/>
                <a:cs typeface="Arial" panose="020B0604020202020204" pitchFamily="34" charset="0"/>
              </a:rPr>
              <a:t>cách</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chính</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xác</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tốc</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độ</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xử</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lý</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của</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mô</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hình</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học</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máy</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cao</a:t>
            </a:r>
            <a:r>
              <a:rPr lang="en-US" sz="750" dirty="0">
                <a:latin typeface="Arial" panose="020B0604020202020204" pitchFamily="34" charset="0"/>
                <a:cs typeface="Arial" panose="020B0604020202020204" pitchFamily="34" charset="0"/>
              </a:rPr>
              <a:t>.</a:t>
            </a:r>
          </a:p>
          <a:p>
            <a:r>
              <a:rPr lang="en-US" sz="750" dirty="0" err="1">
                <a:latin typeface="Arial" panose="020B0604020202020204" pitchFamily="34" charset="0"/>
                <a:cs typeface="Arial" panose="020B0604020202020204" pitchFamily="34" charset="0"/>
              </a:rPr>
              <a:t>Đầu</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vào</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của</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chức</a:t>
            </a:r>
            <a:r>
              <a:rPr lang="en-US" sz="750" dirty="0">
                <a:latin typeface="Arial" panose="020B0604020202020204" pitchFamily="34" charset="0"/>
                <a:cs typeface="Arial" panose="020B0604020202020204" pitchFamily="34" charset="0"/>
              </a:rPr>
              <a:t> </a:t>
            </a:r>
            <a:r>
              <a:rPr lang="vi-VN" sz="750" dirty="0">
                <a:latin typeface="Arial" panose="020B0604020202020204" pitchFamily="34" charset="0"/>
                <a:cs typeface="Arial" panose="020B0604020202020204" pitchFamily="34" charset="0"/>
              </a:rPr>
              <a:t>năng</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nhận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diện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là</a:t>
            </a:r>
            <a:r>
              <a:rPr lang="en-US" sz="750" dirty="0">
                <a:latin typeface="Arial" panose="020B0604020202020204" pitchFamily="34" charset="0"/>
                <a:cs typeface="Arial" panose="020B0604020202020204" pitchFamily="34" charset="0"/>
              </a:rPr>
              <a:t> webcam </a:t>
            </a:r>
            <a:r>
              <a:rPr lang="en-US" sz="750" dirty="0" err="1">
                <a:latin typeface="Arial" panose="020B0604020202020204" pitchFamily="34" charset="0"/>
                <a:cs typeface="Arial" panose="020B0604020202020204" pitchFamily="34" charset="0"/>
              </a:rPr>
              <a:t>và</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đầu</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ra</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là</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nhãn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của</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các</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ngôn</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ngữ</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ký</a:t>
            </a:r>
            <a:r>
              <a:rPr lang="en-US" sz="750" dirty="0">
                <a:latin typeface="Arial" panose="020B0604020202020204" pitchFamily="34" charset="0"/>
                <a:cs typeface="Arial" panose="020B0604020202020204" pitchFamily="34" charset="0"/>
              </a:rPr>
              <a:t> </a:t>
            </a:r>
            <a:r>
              <a:rPr lang="en-US" sz="750" dirty="0" err="1">
                <a:latin typeface="Arial" panose="020B0604020202020204" pitchFamily="34" charset="0"/>
                <a:cs typeface="Arial" panose="020B0604020202020204" pitchFamily="34" charset="0"/>
              </a:rPr>
              <a:t>hiệu</a:t>
            </a:r>
            <a:endParaRPr lang="en-US" sz="75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2FD2B81-797B-483F-AE9F-EE383FAEBD17}"/>
              </a:ext>
            </a:extLst>
          </p:cNvPr>
          <p:cNvSpPr txBox="1"/>
          <p:nvPr/>
        </p:nvSpPr>
        <p:spPr>
          <a:xfrm>
            <a:off x="2490754" y="2191747"/>
            <a:ext cx="1175382" cy="338554"/>
          </a:xfrm>
          <a:prstGeom prst="rect">
            <a:avLst/>
          </a:prstGeom>
          <a:noFill/>
        </p:spPr>
        <p:txBody>
          <a:bodyPr wrap="square" rtlCol="0">
            <a:spAutoFit/>
          </a:bodyPr>
          <a:lstStyle/>
          <a:p>
            <a:r>
              <a:rPr lang="fr-FR" sz="800" dirty="0">
                <a:solidFill>
                  <a:srgbClr val="000000"/>
                </a:solidFill>
                <a:latin typeface="Arial" panose="020B0604020202020204" pitchFamily="34" charset="0"/>
                <a:cs typeface="Arial" panose="020B0604020202020204" pitchFamily="34" charset="0"/>
              </a:rPr>
              <a:t>Thu </a:t>
            </a:r>
            <a:r>
              <a:rPr lang="fr-FR" sz="800" dirty="0" err="1">
                <a:solidFill>
                  <a:srgbClr val="000000"/>
                </a:solidFill>
                <a:latin typeface="Arial" panose="020B0604020202020204" pitchFamily="34" charset="0"/>
                <a:cs typeface="Arial" panose="020B0604020202020204" pitchFamily="34" charset="0"/>
              </a:rPr>
              <a:t>thập</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và</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xây</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dựng</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cơ</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sở</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dữ</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liệu</a:t>
            </a:r>
            <a:endParaRPr lang="fr-FR" sz="750" dirty="0">
              <a:latin typeface="Arial" panose="020B0604020202020204" pitchFamily="34" charset="0"/>
              <a:cs typeface="Arial" panose="020B0604020202020204" pitchFamily="34" charset="0"/>
            </a:endParaRPr>
          </a:p>
        </p:txBody>
      </p:sp>
      <p:sp>
        <p:nvSpPr>
          <p:cNvPr id="83" name="TextBox 82">
            <a:extLst>
              <a:ext uri="{FF2B5EF4-FFF2-40B4-BE49-F238E27FC236}">
                <a16:creationId xmlns:a16="http://schemas.microsoft.com/office/drawing/2014/main" id="{91824F32-B93F-44E0-B30A-3DEF00979247}"/>
              </a:ext>
            </a:extLst>
          </p:cNvPr>
          <p:cNvSpPr txBox="1"/>
          <p:nvPr/>
        </p:nvSpPr>
        <p:spPr>
          <a:xfrm>
            <a:off x="4075807" y="2139243"/>
            <a:ext cx="1175382" cy="461665"/>
          </a:xfrm>
          <a:prstGeom prst="rect">
            <a:avLst/>
          </a:prstGeom>
          <a:noFill/>
        </p:spPr>
        <p:txBody>
          <a:bodyPr wrap="square" rtlCol="0">
            <a:spAutoFit/>
          </a:bodyPr>
          <a:lstStyle/>
          <a:p>
            <a:pPr algn="l"/>
            <a:r>
              <a:rPr lang="fr-FR" sz="800" dirty="0" err="1">
                <a:solidFill>
                  <a:srgbClr val="000000"/>
                </a:solidFill>
                <a:latin typeface="Arial" panose="020B0604020202020204" pitchFamily="34" charset="0"/>
                <a:cs typeface="Arial" panose="020B0604020202020204" pitchFamily="34" charset="0"/>
              </a:rPr>
              <a:t>Huấn</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luyện</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mô</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hình</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học</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máy</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nhận</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diện</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ngôn</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ngữ</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ký</a:t>
            </a:r>
            <a:r>
              <a:rPr lang="fr-FR" sz="800" dirty="0">
                <a:solidFill>
                  <a:srgbClr val="000000"/>
                </a:solidFill>
                <a:latin typeface="Arial" panose="020B0604020202020204" pitchFamily="34" charset="0"/>
                <a:cs typeface="Arial" panose="020B0604020202020204" pitchFamily="34" charset="0"/>
              </a:rPr>
              <a:t> </a:t>
            </a:r>
            <a:r>
              <a:rPr lang="fr-FR" sz="800" dirty="0" err="1">
                <a:solidFill>
                  <a:srgbClr val="000000"/>
                </a:solidFill>
                <a:latin typeface="Arial" panose="020B0604020202020204" pitchFamily="34" charset="0"/>
                <a:cs typeface="Arial" panose="020B0604020202020204" pitchFamily="34" charset="0"/>
              </a:rPr>
              <a:t>hiệu</a:t>
            </a:r>
            <a:endParaRPr lang="fr-FR" sz="750" dirty="0">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F0742B46-CFF0-4A2C-AC90-7A1AC92295DA}"/>
              </a:ext>
            </a:extLst>
          </p:cNvPr>
          <p:cNvSpPr txBox="1"/>
          <p:nvPr/>
        </p:nvSpPr>
        <p:spPr>
          <a:xfrm>
            <a:off x="5483251" y="2144633"/>
            <a:ext cx="1175382" cy="461665"/>
          </a:xfrm>
          <a:prstGeom prst="rect">
            <a:avLst/>
          </a:prstGeom>
          <a:noFill/>
        </p:spPr>
        <p:txBody>
          <a:bodyPr wrap="square" rtlCol="0">
            <a:spAutoFit/>
          </a:bodyPr>
          <a:lstStyle/>
          <a:p>
            <a:pPr algn="l"/>
            <a:r>
              <a:rPr lang="en-US" sz="800" dirty="0" err="1">
                <a:solidFill>
                  <a:srgbClr val="000000"/>
                </a:solidFill>
                <a:latin typeface="Arial" panose="020B0604020202020204" pitchFamily="34" charset="0"/>
                <a:cs typeface="Arial" panose="020B0604020202020204" pitchFamily="34" charset="0"/>
              </a:rPr>
              <a:t>Thiết</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kế</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giao</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diện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trực</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quan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xây</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dựng</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thuật</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toán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cho</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dự</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án</a:t>
            </a:r>
            <a:endParaRPr lang="fr-FR" sz="750" dirty="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28766675-FDEC-494C-A64B-E89CC481827C}"/>
              </a:ext>
            </a:extLst>
          </p:cNvPr>
          <p:cNvSpPr txBox="1"/>
          <p:nvPr/>
        </p:nvSpPr>
        <p:spPr>
          <a:xfrm>
            <a:off x="5470887" y="2741432"/>
            <a:ext cx="1175382" cy="584775"/>
          </a:xfrm>
          <a:prstGeom prst="rect">
            <a:avLst/>
          </a:prstGeom>
          <a:noFill/>
        </p:spPr>
        <p:txBody>
          <a:bodyPr wrap="square" rtlCol="0">
            <a:spAutoFit/>
          </a:bodyPr>
          <a:lstStyle/>
          <a:p>
            <a:pPr algn="l"/>
            <a:r>
              <a:rPr lang="en-US" sz="800" dirty="0" err="1">
                <a:solidFill>
                  <a:srgbClr val="000000"/>
                </a:solidFill>
                <a:latin typeface="Arial" panose="020B0604020202020204" pitchFamily="34" charset="0"/>
                <a:cs typeface="Arial" panose="020B0604020202020204" pitchFamily="34" charset="0"/>
              </a:rPr>
              <a:t>Áp</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dụng</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mô</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hình</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nhận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diện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ngôn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ngữ</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ký</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hiệu</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vào</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phần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mềm</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và</a:t>
            </a:r>
            <a:r>
              <a:rPr lang="en-US" sz="800" dirty="0">
                <a:solidFill>
                  <a:srgbClr val="000000"/>
                </a:solidFill>
                <a:latin typeface="Arial" panose="020B0604020202020204" pitchFamily="34" charset="0"/>
                <a:cs typeface="Arial" panose="020B0604020202020204" pitchFamily="34" charset="0"/>
              </a:rPr>
              <a:t> web</a:t>
            </a:r>
            <a:endParaRPr lang="fr-FR" sz="750" dirty="0">
              <a:latin typeface="Arial" panose="020B0604020202020204" pitchFamily="34" charset="0"/>
              <a:cs typeface="Arial" panose="020B0604020202020204" pitchFamily="34" charset="0"/>
            </a:endParaRPr>
          </a:p>
        </p:txBody>
      </p:sp>
      <p:sp>
        <p:nvSpPr>
          <p:cNvPr id="87" name="TextBox 86">
            <a:extLst>
              <a:ext uri="{FF2B5EF4-FFF2-40B4-BE49-F238E27FC236}">
                <a16:creationId xmlns:a16="http://schemas.microsoft.com/office/drawing/2014/main" id="{945AA67A-BBED-4EC9-8BD1-A4BDEEFCBE82}"/>
              </a:ext>
            </a:extLst>
          </p:cNvPr>
          <p:cNvSpPr txBox="1"/>
          <p:nvPr/>
        </p:nvSpPr>
        <p:spPr>
          <a:xfrm>
            <a:off x="3981308" y="2682041"/>
            <a:ext cx="1175382" cy="584775"/>
          </a:xfrm>
          <a:prstGeom prst="rect">
            <a:avLst/>
          </a:prstGeom>
          <a:noFill/>
        </p:spPr>
        <p:txBody>
          <a:bodyPr wrap="square" rtlCol="0">
            <a:spAutoFit/>
          </a:bodyPr>
          <a:lstStyle/>
          <a:p>
            <a:pPr algn="l"/>
            <a:r>
              <a:rPr lang="en-US" sz="800" dirty="0" err="1">
                <a:solidFill>
                  <a:srgbClr val="000000"/>
                </a:solidFill>
                <a:latin typeface="Arial" panose="020B0604020202020204" pitchFamily="34" charset="0"/>
                <a:cs typeface="Arial" panose="020B0604020202020204" pitchFamily="34" charset="0"/>
              </a:rPr>
              <a:t>Áp</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dụng</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mô</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hình</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nhận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diện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giọng</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nói</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thành</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ngôn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ngữ</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ký</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hiệu</a:t>
            </a:r>
            <a:endParaRPr lang="fr-FR" sz="750" dirty="0">
              <a:latin typeface="Arial" panose="020B0604020202020204" pitchFamily="34" charset="0"/>
              <a:cs typeface="Arial" panose="020B0604020202020204" pitchFamily="34" charset="0"/>
            </a:endParaRPr>
          </a:p>
        </p:txBody>
      </p:sp>
      <p:sp>
        <p:nvSpPr>
          <p:cNvPr id="89" name="TextBox 88">
            <a:extLst>
              <a:ext uri="{FF2B5EF4-FFF2-40B4-BE49-F238E27FC236}">
                <a16:creationId xmlns:a16="http://schemas.microsoft.com/office/drawing/2014/main" id="{C4376087-840B-4D64-9812-AF6ED0DEBC2E}"/>
              </a:ext>
            </a:extLst>
          </p:cNvPr>
          <p:cNvSpPr txBox="1"/>
          <p:nvPr/>
        </p:nvSpPr>
        <p:spPr>
          <a:xfrm>
            <a:off x="2477766" y="2626260"/>
            <a:ext cx="1175382" cy="584775"/>
          </a:xfrm>
          <a:prstGeom prst="rect">
            <a:avLst/>
          </a:prstGeom>
          <a:noFill/>
        </p:spPr>
        <p:txBody>
          <a:bodyPr wrap="square" rtlCol="0">
            <a:spAutoFit/>
          </a:bodyPr>
          <a:lstStyle/>
          <a:p>
            <a:pPr algn="l"/>
            <a:r>
              <a:rPr lang="en-US" sz="800" dirty="0" err="1">
                <a:solidFill>
                  <a:srgbClr val="000000"/>
                </a:solidFill>
                <a:latin typeface="Arial" panose="020B0604020202020204" pitchFamily="34" charset="0"/>
                <a:cs typeface="Arial" panose="020B0604020202020204" pitchFamily="34" charset="0"/>
              </a:rPr>
              <a:t>Đánh</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giá</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độ</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hoàn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thiện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và</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hiệu</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quả</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mô</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hình</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nhận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diện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ngôn</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ngữ</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ký</a:t>
            </a:r>
            <a:r>
              <a:rPr lang="en-US" sz="800" dirty="0">
                <a:solidFill>
                  <a:srgbClr val="000000"/>
                </a:solidFill>
                <a:latin typeface="Arial" panose="020B0604020202020204" pitchFamily="34" charset="0"/>
                <a:cs typeface="Arial" panose="020B0604020202020204" pitchFamily="34" charset="0"/>
              </a:rPr>
              <a:t> </a:t>
            </a:r>
            <a:r>
              <a:rPr lang="en-US" sz="800" dirty="0" err="1">
                <a:solidFill>
                  <a:srgbClr val="000000"/>
                </a:solidFill>
                <a:latin typeface="Arial" panose="020B0604020202020204" pitchFamily="34" charset="0"/>
                <a:cs typeface="Arial" panose="020B0604020202020204" pitchFamily="34" charset="0"/>
              </a:rPr>
              <a:t>hiệu</a:t>
            </a:r>
            <a:endParaRPr lang="fr-FR" sz="750" dirty="0">
              <a:latin typeface="Arial" panose="020B0604020202020204" pitchFamily="34" charset="0"/>
              <a:cs typeface="Arial" panose="020B0604020202020204" pitchFamily="34" charset="0"/>
            </a:endParaRPr>
          </a:p>
        </p:txBody>
      </p:sp>
      <p:sp>
        <p:nvSpPr>
          <p:cNvPr id="91" name="Right Arrow 55">
            <a:extLst>
              <a:ext uri="{FF2B5EF4-FFF2-40B4-BE49-F238E27FC236}">
                <a16:creationId xmlns:a16="http://schemas.microsoft.com/office/drawing/2014/main" id="{34BC0A13-9DED-4AE7-BA45-EB2AA29B8733}"/>
              </a:ext>
            </a:extLst>
          </p:cNvPr>
          <p:cNvSpPr/>
          <p:nvPr/>
        </p:nvSpPr>
        <p:spPr>
          <a:xfrm>
            <a:off x="3672981" y="2307541"/>
            <a:ext cx="254428" cy="919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3" name="Right Arrow 55">
            <a:extLst>
              <a:ext uri="{FF2B5EF4-FFF2-40B4-BE49-F238E27FC236}">
                <a16:creationId xmlns:a16="http://schemas.microsoft.com/office/drawing/2014/main" id="{8A595886-A925-49C2-9896-19333E8621EE}"/>
              </a:ext>
            </a:extLst>
          </p:cNvPr>
          <p:cNvSpPr/>
          <p:nvPr/>
        </p:nvSpPr>
        <p:spPr>
          <a:xfrm>
            <a:off x="5144453" y="2307318"/>
            <a:ext cx="254428" cy="919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94" name="Right Arrow 55">
            <a:extLst>
              <a:ext uri="{FF2B5EF4-FFF2-40B4-BE49-F238E27FC236}">
                <a16:creationId xmlns:a16="http://schemas.microsoft.com/office/drawing/2014/main" id="{7B22C72F-24A5-438A-B683-3693B3BFFDCE}"/>
              </a:ext>
            </a:extLst>
          </p:cNvPr>
          <p:cNvSpPr/>
          <p:nvPr/>
        </p:nvSpPr>
        <p:spPr>
          <a:xfrm rot="5400000">
            <a:off x="5941473" y="2642070"/>
            <a:ext cx="175089" cy="838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FE5CB9E-770E-473D-8DE9-862DE60C74F5}"/>
              </a:ext>
            </a:extLst>
          </p:cNvPr>
          <p:cNvPicPr>
            <a:picLocks noChangeAspect="1"/>
          </p:cNvPicPr>
          <p:nvPr/>
        </p:nvPicPr>
        <p:blipFill>
          <a:blip r:embed="rId3"/>
          <a:stretch>
            <a:fillRect/>
          </a:stretch>
        </p:blipFill>
        <p:spPr>
          <a:xfrm>
            <a:off x="7037964" y="2556692"/>
            <a:ext cx="1005506" cy="1018661"/>
          </a:xfrm>
          <a:prstGeom prst="rect">
            <a:avLst/>
          </a:prstGeom>
        </p:spPr>
      </p:pic>
      <p:pic>
        <p:nvPicPr>
          <p:cNvPr id="25" name="Picture 24">
            <a:extLst>
              <a:ext uri="{FF2B5EF4-FFF2-40B4-BE49-F238E27FC236}">
                <a16:creationId xmlns:a16="http://schemas.microsoft.com/office/drawing/2014/main" id="{08AFA3AB-8C98-4F13-96BD-2DC1D796D609}"/>
              </a:ext>
            </a:extLst>
          </p:cNvPr>
          <p:cNvPicPr>
            <a:picLocks noChangeAspect="1"/>
          </p:cNvPicPr>
          <p:nvPr/>
        </p:nvPicPr>
        <p:blipFill>
          <a:blip r:embed="rId4"/>
          <a:stretch>
            <a:fillRect/>
          </a:stretch>
        </p:blipFill>
        <p:spPr>
          <a:xfrm>
            <a:off x="8043470" y="2555407"/>
            <a:ext cx="966303" cy="1018661"/>
          </a:xfrm>
          <a:prstGeom prst="rect">
            <a:avLst/>
          </a:prstGeom>
        </p:spPr>
      </p:pic>
      <p:sp>
        <p:nvSpPr>
          <p:cNvPr id="113" name="Rectangle 112">
            <a:extLst>
              <a:ext uri="{FF2B5EF4-FFF2-40B4-BE49-F238E27FC236}">
                <a16:creationId xmlns:a16="http://schemas.microsoft.com/office/drawing/2014/main" id="{060FC146-CB2D-473D-B2B5-A2889BCF24AC}"/>
              </a:ext>
            </a:extLst>
          </p:cNvPr>
          <p:cNvSpPr/>
          <p:nvPr/>
        </p:nvSpPr>
        <p:spPr>
          <a:xfrm>
            <a:off x="2393871" y="5059675"/>
            <a:ext cx="1996286" cy="307777"/>
          </a:xfrm>
          <a:prstGeom prst="rect">
            <a:avLst/>
          </a:prstGeom>
        </p:spPr>
        <p:txBody>
          <a:bodyPr wrap="square">
            <a:spAutoFit/>
          </a:bodyPr>
          <a:lstStyle/>
          <a:p>
            <a:pPr algn="just"/>
            <a:r>
              <a:rPr lang="en-US" sz="700" dirty="0" err="1">
                <a:latin typeface="Arial" panose="020B0604020202020204" pitchFamily="34" charset="0"/>
                <a:cs typeface="Arial" panose="020B0604020202020204" pitchFamily="34" charset="0"/>
              </a:rPr>
              <a:t>Ngôn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ngữ</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ký</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hiệu</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được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nhận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diện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thông</a:t>
            </a:r>
            <a:r>
              <a:rPr lang="en-US" sz="700" dirty="0">
                <a:latin typeface="Arial" panose="020B0604020202020204" pitchFamily="34" charset="0"/>
                <a:cs typeface="Arial" panose="020B0604020202020204" pitchFamily="34" charset="0"/>
              </a:rPr>
              <a:t> qua </a:t>
            </a:r>
            <a:r>
              <a:rPr lang="en-US" sz="700" dirty="0" err="1">
                <a:latin typeface="Arial" panose="020B0604020202020204" pitchFamily="34" charset="0"/>
                <a:cs typeface="Arial" panose="020B0604020202020204" pitchFamily="34" charset="0"/>
              </a:rPr>
              <a:t>mô</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hình</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học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máy</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được</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huấn</a:t>
            </a:r>
            <a:r>
              <a:rPr lang="en-US" sz="700" dirty="0">
                <a:latin typeface="Arial" panose="020B0604020202020204" pitchFamily="34" charset="0"/>
                <a:cs typeface="Arial" panose="020B0604020202020204" pitchFamily="34" charset="0"/>
              </a:rPr>
              <a:t> </a:t>
            </a:r>
            <a:r>
              <a:rPr lang="en-US" sz="700" dirty="0" err="1">
                <a:latin typeface="Arial" panose="020B0604020202020204" pitchFamily="34" charset="0"/>
                <a:cs typeface="Arial" panose="020B0604020202020204" pitchFamily="34" charset="0"/>
              </a:rPr>
              <a:t>luyện</a:t>
            </a:r>
            <a:endParaRPr lang="en-US" sz="800" dirty="0">
              <a:latin typeface="Arial" panose="020B0604020202020204" pitchFamily="34" charset="0"/>
              <a:cs typeface="Arial" panose="020B0604020202020204" pitchFamily="34" charset="0"/>
            </a:endParaRPr>
          </a:p>
        </p:txBody>
      </p:sp>
      <p:sp>
        <p:nvSpPr>
          <p:cNvPr id="114" name="Content Placeholder 2">
            <a:extLst>
              <a:ext uri="{FF2B5EF4-FFF2-40B4-BE49-F238E27FC236}">
                <a16:creationId xmlns:a16="http://schemas.microsoft.com/office/drawing/2014/main" id="{178A71CE-35D9-4E12-AB4C-A520738E9E2C}"/>
              </a:ext>
            </a:extLst>
          </p:cNvPr>
          <p:cNvSpPr txBox="1">
            <a:spLocks/>
          </p:cNvSpPr>
          <p:nvPr/>
        </p:nvSpPr>
        <p:spPr>
          <a:xfrm>
            <a:off x="2445757" y="6377148"/>
            <a:ext cx="2144770" cy="8913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600" dirty="0" err="1">
                <a:solidFill>
                  <a:schemeClr val="tx1"/>
                </a:solidFill>
                <a:latin typeface="Arial" panose="020B0604020202020204" pitchFamily="34" charset="0"/>
                <a:cs typeface="Arial" panose="020B0604020202020204" pitchFamily="34" charset="0"/>
              </a:rPr>
              <a:t>Hình</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ảnh</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minh</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họa</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cho</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chức</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năng</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và</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giao</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diện</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phần</a:t>
            </a:r>
            <a:r>
              <a:rPr lang="en-US" sz="600" dirty="0">
                <a:solidFill>
                  <a:schemeClr val="tx1"/>
                </a:solidFill>
                <a:latin typeface="Arial" panose="020B0604020202020204" pitchFamily="34" charset="0"/>
                <a:cs typeface="Arial" panose="020B0604020202020204" pitchFamily="34" charset="0"/>
              </a:rPr>
              <a:t> </a:t>
            </a:r>
            <a:r>
              <a:rPr lang="en-US" sz="600" dirty="0" err="1">
                <a:solidFill>
                  <a:schemeClr val="tx1"/>
                </a:solidFill>
                <a:latin typeface="Arial" panose="020B0604020202020204" pitchFamily="34" charset="0"/>
                <a:cs typeface="Arial" panose="020B0604020202020204" pitchFamily="34" charset="0"/>
              </a:rPr>
              <a:t>mềm</a:t>
            </a:r>
            <a:endParaRPr lang="en-US" sz="600" dirty="0">
              <a:solidFill>
                <a:schemeClr val="tx1"/>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60381279-551F-F09E-485B-26EBE596D14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20755" y="3659191"/>
            <a:ext cx="1995849" cy="1003680"/>
          </a:xfrm>
          <a:prstGeom prst="rect">
            <a:avLst/>
          </a:prstGeom>
          <a:noFill/>
          <a:ln>
            <a:noFill/>
          </a:ln>
        </p:spPr>
      </p:pic>
      <p:sp>
        <p:nvSpPr>
          <p:cNvPr id="11" name="Right Arrow 55">
            <a:extLst>
              <a:ext uri="{FF2B5EF4-FFF2-40B4-BE49-F238E27FC236}">
                <a16:creationId xmlns:a16="http://schemas.microsoft.com/office/drawing/2014/main" id="{DDD1CA1E-7579-E4B7-A06F-BEA3AF5D106C}"/>
              </a:ext>
            </a:extLst>
          </p:cNvPr>
          <p:cNvSpPr/>
          <p:nvPr/>
        </p:nvSpPr>
        <p:spPr>
          <a:xfrm rot="10800000">
            <a:off x="5190423" y="2799387"/>
            <a:ext cx="273120" cy="1049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pic>
        <p:nvPicPr>
          <p:cNvPr id="13" name="Picture 2" descr="Sống trong im lặng - Báo Quảng Bình điện tử">
            <a:extLst>
              <a:ext uri="{FF2B5EF4-FFF2-40B4-BE49-F238E27FC236}">
                <a16:creationId xmlns:a16="http://schemas.microsoft.com/office/drawing/2014/main" id="{75771F5A-DD7E-762D-4972-6D250D0F301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696" y="3570865"/>
            <a:ext cx="1031428" cy="75243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Người câm có thể tham gia tố tụng hành chính bằng ngôn ngữ ký hiệu của  riêng mình hay không theo quy định pháp luật?">
            <a:extLst>
              <a:ext uri="{FF2B5EF4-FFF2-40B4-BE49-F238E27FC236}">
                <a16:creationId xmlns:a16="http://schemas.microsoft.com/office/drawing/2014/main" id="{8C25F52F-616E-1C3C-B79D-885C810D6C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50879" y="3569951"/>
            <a:ext cx="1020885" cy="7524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munity Development: What is community development? – Bundaberg Regional  Council">
            <a:extLst>
              <a:ext uri="{FF2B5EF4-FFF2-40B4-BE49-F238E27FC236}">
                <a16:creationId xmlns:a16="http://schemas.microsoft.com/office/drawing/2014/main" id="{D68DF045-FC2D-5E3A-F560-415B1C99961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642" y="5602281"/>
            <a:ext cx="2099832" cy="84101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0D2B75F0-E9E1-6E5B-0F7A-B6A1A479E529}"/>
              </a:ext>
            </a:extLst>
          </p:cNvPr>
          <p:cNvPicPr>
            <a:picLocks noChangeAspect="1"/>
          </p:cNvPicPr>
          <p:nvPr/>
        </p:nvPicPr>
        <p:blipFill>
          <a:blip r:embed="rId9"/>
          <a:stretch>
            <a:fillRect/>
          </a:stretch>
        </p:blipFill>
        <p:spPr>
          <a:xfrm>
            <a:off x="4591365" y="3963519"/>
            <a:ext cx="1890261" cy="772799"/>
          </a:xfrm>
          <a:prstGeom prst="rect">
            <a:avLst/>
          </a:prstGeom>
        </p:spPr>
      </p:pic>
      <p:pic>
        <p:nvPicPr>
          <p:cNvPr id="26" name="Picture 25">
            <a:extLst>
              <a:ext uri="{FF2B5EF4-FFF2-40B4-BE49-F238E27FC236}">
                <a16:creationId xmlns:a16="http://schemas.microsoft.com/office/drawing/2014/main" id="{06132A29-5F69-2715-1980-93A13001298F}"/>
              </a:ext>
            </a:extLst>
          </p:cNvPr>
          <p:cNvPicPr>
            <a:picLocks noChangeAspect="1"/>
          </p:cNvPicPr>
          <p:nvPr/>
        </p:nvPicPr>
        <p:blipFill>
          <a:blip r:embed="rId10"/>
          <a:stretch>
            <a:fillRect/>
          </a:stretch>
        </p:blipFill>
        <p:spPr>
          <a:xfrm>
            <a:off x="2417755" y="5337448"/>
            <a:ext cx="2092744" cy="1068906"/>
          </a:xfrm>
          <a:prstGeom prst="rect">
            <a:avLst/>
          </a:prstGeom>
        </p:spPr>
      </p:pic>
      <p:pic>
        <p:nvPicPr>
          <p:cNvPr id="9281" name="Picture 9280">
            <a:extLst>
              <a:ext uri="{FF2B5EF4-FFF2-40B4-BE49-F238E27FC236}">
                <a16:creationId xmlns:a16="http://schemas.microsoft.com/office/drawing/2014/main" id="{6DD4279C-02E8-A160-83FA-9E19E2D9DC7F}"/>
              </a:ext>
            </a:extLst>
          </p:cNvPr>
          <p:cNvPicPr>
            <a:picLocks noChangeAspect="1"/>
          </p:cNvPicPr>
          <p:nvPr/>
        </p:nvPicPr>
        <p:blipFill>
          <a:blip r:embed="rId11"/>
          <a:stretch>
            <a:fillRect/>
          </a:stretch>
        </p:blipFill>
        <p:spPr>
          <a:xfrm>
            <a:off x="4679940" y="5353275"/>
            <a:ext cx="1960582" cy="1064127"/>
          </a:xfrm>
          <a:prstGeom prst="rect">
            <a:avLst/>
          </a:prstGeom>
        </p:spPr>
      </p:pic>
    </p:spTree>
    <p:extLst>
      <p:ext uri="{BB962C8B-B14F-4D97-AF65-F5344CB8AC3E}">
        <p14:creationId xmlns:p14="http://schemas.microsoft.com/office/powerpoint/2010/main" val="3036203221"/>
      </p:ext>
    </p:extLst>
  </p:cSld>
  <p:clrMapOvr>
    <a:masterClrMapping/>
  </p:clrMapOvr>
</p:sld>
</file>

<file path=ppt/theme/theme1.xml><?xml version="1.0" encoding="utf-8"?>
<a:theme xmlns:a="http://schemas.openxmlformats.org/drawingml/2006/main" name="paner new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paner new 1</Template>
  <TotalTime>1715</TotalTime>
  <Words>535</Words>
  <Application>Microsoft Office PowerPoint</Application>
  <PresentationFormat>On-screen Show (4:3)</PresentationFormat>
  <Paragraphs>35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paner new 1</vt:lpstr>
      <vt:lpstr>PowerPoint Presentation</vt:lpstr>
    </vt:vector>
  </TitlesOfParts>
  <Company>Truong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dc:creator>
  <cp:lastModifiedBy>CMS</cp:lastModifiedBy>
  <cp:revision>141</cp:revision>
  <dcterms:created xsi:type="dcterms:W3CDTF">2016-03-08T03:57:32Z</dcterms:created>
  <dcterms:modified xsi:type="dcterms:W3CDTF">2024-10-28T08:39:50Z</dcterms:modified>
</cp:coreProperties>
</file>